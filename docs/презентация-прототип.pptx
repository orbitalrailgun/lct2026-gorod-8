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2377440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1063721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94A3B8"/>
                </a:solidFill>
                <a:latin typeface="PT Sans"/>
              </a:rPr>
              <a:t>СЕРВИС ПРОГНОЗИРОВАНИЯ ИНЦИДЕНТОВ</a:t>
            </a:r>
          </a:p>
          <a:p>
            <a:pPr algn="l"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PT Sans"/>
              </a:rPr>
              <a:t>Прогноз, которым можно пользоваться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834640"/>
            <a:ext cx="10637215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475569"/>
                </a:solidFill>
                <a:latin typeface="PT Sans"/>
              </a:rPr>
              <a:t>Задача №8 «Город» · Лидеры цифровых трансформаций 2026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94A3B8"/>
                </a:solidFill>
                <a:latin typeface="PT Sans"/>
              </a:rPr>
              <a:t>Департамент ЖКХ Москвы · АО «Москоллектор»</a:t>
            </a:r>
          </a:p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PT Sans"/>
              </a:rPr>
              <a:t>Команда «Дискреция творца»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212080"/>
            <a:ext cx="106372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1">
                <a:solidFill>
                  <a:srgbClr val="C2410C"/>
                </a:solidFill>
                <a:latin typeface="PT Sans"/>
              </a:rPr>
              <a:t>Сервис не выдаёт число. Он выдаёт вердикт с обоснованием на языке диспетчера.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372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94A3B8"/>
                </a:solidFill>
                <a:latin typeface="PT Sans"/>
              </a:rPr>
              <a:t>ПРОБЛЕМА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22960"/>
            <a:ext cx="106372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0F172A"/>
                </a:solidFill>
                <a:latin typeface="PT Sans"/>
              </a:rPr>
              <a:t>Прогноз без обоснования нельзя использовать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536192"/>
            <a:ext cx="1097280" cy="3175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83080"/>
            <a:ext cx="106372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0F172A"/>
                </a:solidFill>
                <a:latin typeface="PT Sans"/>
              </a:rPr>
              <a:t>Диспетчер получил «вероятность отказа 87 %». Он не может ни проверить утверждение, ни выбрать, кого направить, ни объяснить решение руководству.</a:t>
            </a:r>
          </a:p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C2410C"/>
                </a:solidFill>
                <a:latin typeface="PT Sans"/>
              </a:rPr>
              <a:t>Он получил не информацию, а требование доверия.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3154680"/>
            <a:ext cx="3393338" cy="173736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383280"/>
            <a:ext cx="2936138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 i="0">
                <a:solidFill>
                  <a:srgbClr val="C2410C"/>
                </a:solidFill>
                <a:latin typeface="PT Sans"/>
              </a:rPr>
              <a:t>11 485</a:t>
            </a:r>
          </a:p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0F172A"/>
                </a:solidFill>
                <a:latin typeface="PT Sans"/>
              </a:rPr>
              <a:t>каналов в шести системах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475569"/>
                </a:solidFill>
                <a:latin typeface="PT Sans"/>
              </a:rPr>
              <a:t>за каждым — живой объект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99178" y="3154680"/>
            <a:ext cx="3393338" cy="173736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27778" y="3383280"/>
            <a:ext cx="2936138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 i="0">
                <a:solidFill>
                  <a:srgbClr val="C2410C"/>
                </a:solidFill>
                <a:latin typeface="PT Sans"/>
              </a:rPr>
              <a:t>313,5 млн</a:t>
            </a:r>
          </a:p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0F172A"/>
                </a:solidFill>
                <a:latin typeface="PT Sans"/>
              </a:rPr>
              <a:t>событий за 7,5 лет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475569"/>
                </a:solidFill>
                <a:latin typeface="PT Sans"/>
              </a:rPr>
              <a:t>просмотреть невозможно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21116" y="3154680"/>
            <a:ext cx="3393338" cy="173736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49716" y="3383280"/>
            <a:ext cx="2936138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 i="0">
                <a:solidFill>
                  <a:srgbClr val="C2410C"/>
                </a:solidFill>
                <a:latin typeface="PT Sans"/>
              </a:rPr>
              <a:t>0,05 %</a:t>
            </a:r>
          </a:p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0F172A"/>
                </a:solidFill>
                <a:latin typeface="PT Sans"/>
              </a:rPr>
              <a:t>базовая частота отказа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475569"/>
                </a:solidFill>
                <a:latin typeface="PT Sans"/>
              </a:rPr>
              <a:t>искать наугад бесполезно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166360"/>
            <a:ext cx="106372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0F172A"/>
                </a:solidFill>
                <a:latin typeface="PT Sans"/>
              </a:rPr>
              <a:t>Поэтому центральная часть решения — не классификатор, а слой объяснения.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372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94A3B8"/>
                </a:solidFill>
                <a:latin typeface="PT Sans"/>
              </a:rPr>
              <a:t>ИДЕЯ РЕШЕНИЯ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22960"/>
            <a:ext cx="106372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0F172A"/>
                </a:solidFill>
                <a:latin typeface="PT Sans"/>
              </a:rPr>
              <a:t>Карточка вердикта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536192"/>
            <a:ext cx="1097280" cy="3175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6595073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01168" rIns="274320"/>
          <a:lstStyle/>
          <a:p>
            <a:pPr algn="l">
              <a:spcAft>
                <a:spcPts val="1000"/>
              </a:spcAft>
            </a:pPr>
            <a:r>
              <a:rPr sz="1600" b="1" i="0">
                <a:solidFill>
                  <a:srgbClr val="0F172A"/>
                </a:solidFill>
                <a:latin typeface="PT Sans"/>
              </a:rPr>
              <a:t>Прогноз отказа шлейфа пожарной сигнализации
объект Кси, ПК213 — 87 % в ближайшие 24 часа</a:t>
            </a:r>
          </a:p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94A3B8"/>
                </a:solidFill>
                <a:latin typeface="PT Sans"/>
              </a:rPr>
              <a:t>ПОЧЕМУ ТАК РЕШЕНО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475569"/>
                </a:solidFill>
                <a:latin typeface="PT Sans"/>
              </a:rPr>
              <a:t>— 74 из 75 дымовых датчиков отрезка молчат более 8 часов — вклад +38 %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475569"/>
                </a:solidFill>
                <a:latin typeface="PT Sans"/>
              </a:rPr>
              <a:t>— канал ДД ПК772 за 7 суток дал 240 переходов «Неисправен» при норме 3 — +22 %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475569"/>
                </a:solidFill>
                <a:latin typeface="PT Sans"/>
              </a:rPr>
              <a:t>— отрезок непрерывен по пикетам: 57 точек из 59, общий кабель — +15 %</a:t>
            </a:r>
          </a:p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5803D"/>
                </a:solidFill>
                <a:latin typeface="PT Sans"/>
              </a:rPr>
              <a:t>ЭТО НЕ ПОЖАР: сработок дыма за сутки — 0</a:t>
            </a:r>
          </a:p>
          <a:p>
            <a:pPr algn="l">
              <a:spcAft>
                <a:spcPts val="800"/>
              </a:spcAft>
            </a:pPr>
            <a:r>
              <a:rPr sz="1200" b="1" i="0">
                <a:solidFill>
                  <a:srgbClr val="C2410C"/>
                </a:solidFill>
                <a:latin typeface="PT Sans"/>
              </a:rPr>
              <a:t>ЧЕГО МЫ НЕ ВИДИМ: тепловых датчиков на объекте нет, подтвердить температурой нечем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0F172A"/>
                </a:solidFill>
                <a:latin typeface="PT Sans"/>
              </a:rPr>
              <a:t>Что делать: проверить шлейф и питание шкафа ОПС</a:t>
            </a:r>
          </a:p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94A3B8"/>
                </a:solidFill>
                <a:latin typeface="PT Sans"/>
              </a:rPr>
              <a:t>Прецедент: 09.12.2025, та же точка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91429" y="1783080"/>
            <a:ext cx="372302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1" i="0">
                <a:solidFill>
                  <a:srgbClr val="0F172A"/>
                </a:solidFill>
                <a:latin typeface="PT Sans"/>
              </a:rPr>
              <a:t>Четыре обязательные части</a:t>
            </a:r>
          </a:p>
          <a:p>
            <a:pPr>
              <a:spcAft>
                <a:spcPts val="900"/>
              </a:spcAft>
            </a:pPr>
            <a:r>
              <a:rPr sz="1400" b="1">
                <a:solidFill>
                  <a:srgbClr val="C2410C"/>
                </a:solidFill>
                <a:latin typeface="PT Sans"/>
              </a:rPr>
              <a:t>Что произошло.</a:t>
            </a:r>
            <a:r>
              <a:rPr sz="1400">
                <a:solidFill>
                  <a:srgbClr val="475569"/>
                </a:solidFill>
                <a:latin typeface="PT Sans"/>
              </a:rPr>
              <a:t> Описание, а не код ошибки.</a:t>
            </a:r>
          </a:p>
          <a:p>
            <a:pPr>
              <a:spcAft>
                <a:spcPts val="900"/>
              </a:spcAft>
            </a:pPr>
            <a:r>
              <a:rPr sz="1400" b="1">
                <a:solidFill>
                  <a:srgbClr val="C2410C"/>
                </a:solidFill>
                <a:latin typeface="PT Sans"/>
              </a:rPr>
              <a:t>Почему так решено.</a:t>
            </a:r>
            <a:r>
              <a:rPr sz="1400">
                <a:solidFill>
                  <a:srgbClr val="475569"/>
                </a:solidFill>
                <a:latin typeface="PT Sans"/>
              </a:rPr>
              <a:t> Улики с числами, вкладами и метками времени до секунды.</a:t>
            </a:r>
          </a:p>
          <a:p>
            <a:pPr>
              <a:spcAft>
                <a:spcPts val="900"/>
              </a:spcAft>
            </a:pPr>
            <a:r>
              <a:rPr sz="1400" b="1">
                <a:solidFill>
                  <a:srgbClr val="C2410C"/>
                </a:solidFill>
                <a:latin typeface="PT Sans"/>
              </a:rPr>
              <a:t>Это НЕ.</a:t>
            </a:r>
            <a:r>
              <a:rPr sz="1400">
                <a:solidFill>
                  <a:srgbClr val="475569"/>
                </a:solidFill>
                <a:latin typeface="PT Sans"/>
              </a:rPr>
              <a:t> Версии, которые исключены данными.</a:t>
            </a:r>
          </a:p>
          <a:p>
            <a:pPr>
              <a:spcAft>
                <a:spcPts val="900"/>
              </a:spcAft>
            </a:pPr>
            <a:r>
              <a:rPr sz="1400" b="1">
                <a:solidFill>
                  <a:srgbClr val="C2410C"/>
                </a:solidFill>
                <a:latin typeface="PT Sans"/>
              </a:rPr>
              <a:t>Чего мы не видим.</a:t>
            </a:r>
            <a:r>
              <a:rPr sz="1400">
                <a:solidFill>
                  <a:srgbClr val="475569"/>
                </a:solidFill>
                <a:latin typeface="PT Sans"/>
              </a:rPr>
              <a:t> Слепые зоны, из-за которых вывод нельзя подтвердить.</a:t>
            </a:r>
          </a:p>
          <a:p>
            <a:pPr algn="l">
              <a:spcAft>
                <a:spcPts val="600"/>
              </a:spcAft>
            </a:pPr>
            <a:r>
              <a:rPr sz="1200" b="0" i="1">
                <a:solidFill>
                  <a:srgbClr val="94A3B8"/>
                </a:solidFill>
                <a:latin typeface="PT Sans"/>
              </a:rPr>
              <a:t>Вклад каждой улики считается точно: сумма вкладов сходится со скором модели с точностью 4,44·10⁻¹⁶.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372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94A3B8"/>
                </a:solidFill>
                <a:latin typeface="PT Sans"/>
              </a:rPr>
              <a:t>ЧТО МЫ СДЕЛАЛИ ИНАЧЕ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22960"/>
            <a:ext cx="106372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0F172A"/>
                </a:solidFill>
                <a:latin typeface="PT Sans"/>
              </a:rPr>
              <a:t>Троичная логика: «не знаю» — это не «нет»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536192"/>
            <a:ext cx="1097280" cy="3175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83080"/>
            <a:ext cx="106372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0F172A"/>
                </a:solidFill>
                <a:latin typeface="PT Sans"/>
              </a:rPr>
              <a:t>Состояние канала имеет три значения: +1 отклонение, 0 неизвестно, −1 норма. Правило заказчика «одиночная сработка не событие» записывается одной операцией.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2697480"/>
          <a:ext cx="10637215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7443"/>
                <a:gridCol w="2127443"/>
                <a:gridCol w="6382329"/>
              </a:tblGrid>
              <a:tr h="31089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F172A"/>
                          </a:solidFill>
                          <a:latin typeface="PT Sans"/>
                        </a:rPr>
                        <a:t>Операция</a:t>
                      </a:r>
                    </a:p>
                  </a:txBody>
                  <a:tcPr marL="73152" marR="73152" marT="27432" marB="27432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F172A"/>
                          </a:solidFill>
                          <a:latin typeface="PT Sans"/>
                        </a:rPr>
                        <a:t>Результат</a:t>
                      </a:r>
                    </a:p>
                  </a:txBody>
                  <a:tcPr marL="73152" marR="73152" marT="27432" marB="27432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F172A"/>
                          </a:solidFill>
                          <a:latin typeface="PT Sans"/>
                        </a:rPr>
                        <a:t>Смысл</a:t>
                      </a:r>
                    </a:p>
                  </a:txBody>
                  <a:tcPr marL="73152" marR="73152" marT="27432" marB="27432">
                    <a:solidFill>
                      <a:srgbClr val="EEF2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475569"/>
                          </a:solidFill>
                          <a:latin typeface="PT Sans"/>
                        </a:rPr>
                        <a:t>min(+1, −1) = −1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475569"/>
                          </a:solidFill>
                          <a:latin typeface="PT Sans"/>
                        </a:rPr>
                        <a:t>норма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475569"/>
                          </a:solidFill>
                          <a:latin typeface="PT Sans"/>
                        </a:rPr>
                        <a:t>сосед спокоен — одиночную тревогу не засчитываем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475569"/>
                          </a:solidFill>
                          <a:latin typeface="PT Sans"/>
                        </a:rPr>
                        <a:t>min(+1, +1) = +1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475569"/>
                          </a:solidFill>
                          <a:latin typeface="PT Sans"/>
                        </a:rPr>
                        <a:t>отклонение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475569"/>
                          </a:solidFill>
                          <a:latin typeface="PT Sans"/>
                        </a:rPr>
                        <a:t>датчики подтверждают друг друга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F172A"/>
                          </a:solidFill>
                          <a:latin typeface="PT Sans"/>
                        </a:rPr>
                        <a:t>min(+1, 0) = 0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F172A"/>
                          </a:solidFill>
                          <a:latin typeface="PT Sans"/>
                        </a:rPr>
                        <a:t>неизвестно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F172A"/>
                          </a:solidFill>
                          <a:latin typeface="PT Sans"/>
                        </a:rPr>
                        <a:t>соседа нет — «не знаю», а не «нет»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" y="4114800"/>
            <a:ext cx="106372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0F172A"/>
                </a:solidFill>
                <a:latin typeface="PT Sans"/>
              </a:rPr>
              <a:t>Двоичная система обязана округлить «нечем подтвердить» до «всё в порядке». Вот сколько это стоит: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77240" y="4754880"/>
          <a:ext cx="10637215" cy="1865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09772"/>
                <a:gridCol w="2127443"/>
              </a:tblGrid>
              <a:tr h="31089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F172A"/>
                          </a:solidFill>
                          <a:latin typeface="PT Sans"/>
                        </a:rPr>
                        <a:t>Где возникает незнание</a:t>
                      </a:r>
                    </a:p>
                  </a:txBody>
                  <a:tcPr marL="73152" marR="73152" marT="27432" marB="27432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F172A"/>
                          </a:solidFill>
                          <a:latin typeface="PT Sans"/>
                        </a:rPr>
                        <a:t>Величина</a:t>
                      </a:r>
                    </a:p>
                  </a:txBody>
                  <a:tcPr marL="73152" marR="73152" marT="27432" marB="27432">
                    <a:solidFill>
                      <a:srgbClr val="EEF2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PT Sans"/>
                        </a:rPr>
                        <a:t>Локальные события задымления без термоконтроля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PT Sans"/>
                        </a:rPr>
                        <a:t>86,3 %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75569"/>
                          </a:solidFill>
                          <a:latin typeface="PT Sans"/>
                        </a:rPr>
                        <a:t>Логические домены из одного канала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75569"/>
                          </a:solidFill>
                          <a:latin typeface="PT Sans"/>
                        </a:rPr>
                        <a:t>48,5 %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75569"/>
                          </a:solidFill>
                          <a:latin typeface="PT Sans"/>
                        </a:rPr>
                        <a:t>Объекты без теплового датчика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75569"/>
                          </a:solidFill>
                          <a:latin typeface="PT Sans"/>
                        </a:rPr>
                        <a:t>13 из 16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75569"/>
                          </a:solidFill>
                          <a:latin typeface="PT Sans"/>
                        </a:rPr>
                        <a:t>Точки без собственного датчика температуры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75569"/>
                          </a:solidFill>
                          <a:latin typeface="PT Sans"/>
                        </a:rPr>
                        <a:t>3 358 из 3 774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75569"/>
                          </a:solidFill>
                          <a:latin typeface="PT Sans"/>
                        </a:rPr>
                        <a:t>Каналы из журнала без паспорта в справочнике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75569"/>
                          </a:solidFill>
                          <a:latin typeface="PT Sans"/>
                        </a:rPr>
                        <a:t>1 142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372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94A3B8"/>
                </a:solidFill>
                <a:latin typeface="PT Sans"/>
              </a:rPr>
              <a:t>ДАННЫЕ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22960"/>
            <a:ext cx="106372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0F172A"/>
                </a:solidFill>
                <a:latin typeface="PT Sans"/>
              </a:rPr>
              <a:t>Что в данных не так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536192"/>
            <a:ext cx="1097280" cy="3175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83080"/>
            <a:ext cx="10637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F172A"/>
                </a:solidFill>
                <a:latin typeface="PT Sans"/>
              </a:rPr>
              <a:t>313 546 016 событий · 2019–2026 · 11 485 каналов · 16 объектов · 19 типов датчиков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468880"/>
            <a:ext cx="1063721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400">
                <a:solidFill>
                  <a:srgbClr val="C2410C"/>
                </a:solidFill>
                <a:latin typeface="PT Sans"/>
              </a:rPr>
              <a:t>▪  </a:t>
            </a:r>
            <a:r>
              <a:rPr sz="1400" b="1">
                <a:solidFill>
                  <a:srgbClr val="0F172A"/>
                </a:solidFill>
                <a:latin typeface="PT Sans"/>
              </a:rPr>
              <a:t>Журнал событийный, а не телеметрический. </a:t>
            </a:r>
            <a:r>
              <a:rPr sz="1400">
                <a:solidFill>
                  <a:srgbClr val="475569"/>
                </a:solidFill>
                <a:latin typeface="PT Sans"/>
              </a:rPr>
              <a:t>Заполнено 13,6 % возможных канало-суток. Отсутствие записи не означает норму.</a:t>
            </a:r>
          </a:p>
          <a:p>
            <a:pPr>
              <a:spcAft>
                <a:spcPts val="1100"/>
              </a:spcAft>
            </a:pPr>
            <a:r>
              <a:rPr sz="1400">
                <a:solidFill>
                  <a:srgbClr val="C2410C"/>
                </a:solidFill>
                <a:latin typeface="PT Sans"/>
              </a:rPr>
              <a:t>▪  </a:t>
            </a:r>
            <a:r>
              <a:rPr sz="1400" b="1">
                <a:solidFill>
                  <a:srgbClr val="0F172A"/>
                </a:solidFill>
                <a:latin typeface="PT Sans"/>
              </a:rPr>
              <a:t>1 142 канала без паспорта. </a:t>
            </a:r>
            <a:r>
              <a:rPr sz="1400">
                <a:solidFill>
                  <a:srgbClr val="475569"/>
                </a:solidFill>
                <a:latin typeface="PT Sans"/>
              </a:rPr>
              <a:t>9,44 млн событий от каналов, которых нет в справочнике. Ответ 19 считает вопрос закрытым — проверка 27.09 показывает, что нет.</a:t>
            </a:r>
          </a:p>
          <a:p>
            <a:pPr>
              <a:spcAft>
                <a:spcPts val="1100"/>
              </a:spcAft>
            </a:pPr>
            <a:r>
              <a:rPr sz="1400">
                <a:solidFill>
                  <a:srgbClr val="C2410C"/>
                </a:solidFill>
                <a:latin typeface="PT Sans"/>
              </a:rPr>
              <a:t>▪  </a:t>
            </a:r>
            <a:r>
              <a:rPr sz="1400" b="1">
                <a:solidFill>
                  <a:srgbClr val="0F172A"/>
                </a:solidFill>
                <a:latin typeface="PT Sans"/>
              </a:rPr>
              <a:t>42 % всех тревог — один период 2021 года. </a:t>
            </a:r>
            <a:r>
              <a:rPr sz="1400">
                <a:solidFill>
                  <a:srgbClr val="475569"/>
                </a:solidFill>
                <a:latin typeface="PT Sans"/>
              </a:rPr>
              <a:t>Внедрение новой версии системы мониторинга. Подтверждено заказчиком, период исключён.</a:t>
            </a:r>
          </a:p>
          <a:p>
            <a:pPr>
              <a:spcAft>
                <a:spcPts val="1100"/>
              </a:spcAft>
            </a:pPr>
            <a:r>
              <a:rPr sz="1400">
                <a:solidFill>
                  <a:srgbClr val="C2410C"/>
                </a:solidFill>
                <a:latin typeface="PT Sans"/>
              </a:rPr>
              <a:t>▪  </a:t>
            </a:r>
            <a:r>
              <a:rPr sz="1400" b="1">
                <a:solidFill>
                  <a:srgbClr val="0F172A"/>
                </a:solidFill>
                <a:latin typeface="PT Sans"/>
              </a:rPr>
              <a:t>86 % отказных суток — работа бригады, а не отказ. </a:t>
            </a:r>
            <a:r>
              <a:rPr sz="1400">
                <a:solidFill>
                  <a:srgbClr val="475569"/>
                </a:solidFill>
                <a:latin typeface="PT Sans"/>
              </a:rPr>
              <a:t>После маскирования массовых сработок доля выходных среди позитивов выросла с 5,7 % до 24 %: таргет перестал быть графиком обходов.</a:t>
            </a:r>
          </a:p>
          <a:p>
            <a:pPr>
              <a:spcAft>
                <a:spcPts val="1100"/>
              </a:spcAft>
            </a:pPr>
            <a:r>
              <a:rPr sz="1400">
                <a:solidFill>
                  <a:srgbClr val="C2410C"/>
                </a:solidFill>
                <a:latin typeface="PT Sans"/>
              </a:rPr>
              <a:t>▪  </a:t>
            </a:r>
            <a:r>
              <a:rPr sz="1400" b="1">
                <a:solidFill>
                  <a:srgbClr val="0F172A"/>
                </a:solidFill>
                <a:latin typeface="PT Sans"/>
              </a:rPr>
              <a:t>1 036 каналов-тёзок. </a:t>
            </a:r>
            <a:r>
              <a:rPr sz="1400">
                <a:solidFill>
                  <a:srgbClr val="475569"/>
                </a:solidFill>
                <a:latin typeface="PT Sans"/>
              </a:rPr>
              <a:t>Дубли одного физического датчика: синхронность ≥ 95 % у 386 групп из 412. В обучении остаётся один.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372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94A3B8"/>
                </a:solidFill>
                <a:latin typeface="PT Sans"/>
              </a:rPr>
              <a:t>КАК ЭТО РАБОТАЕТ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22960"/>
            <a:ext cx="106372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0F172A"/>
                </a:solidFill>
                <a:latin typeface="PT Sans"/>
              </a:rPr>
              <a:t>Метод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536192"/>
            <a:ext cx="1097280" cy="3175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3362858" cy="32004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2905658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 i="0">
                <a:solidFill>
                  <a:srgbClr val="0F172A"/>
                </a:solidFill>
                <a:latin typeface="PT Sans"/>
              </a:rPr>
              <a:t>Семантический контракт</a:t>
            </a:r>
          </a:p>
          <a:p>
            <a:pPr algn="l">
              <a:spcAft>
                <a:spcPts val="1000"/>
              </a:spcAft>
            </a:pPr>
            <a:r>
              <a:rPr sz="1300" b="0" i="0">
                <a:solidFill>
                  <a:srgbClr val="475569"/>
                </a:solidFill>
                <a:latin typeface="PT Sans"/>
              </a:rPr>
              <a:t>Смысл задаёт пара «тип датчика + значение», а не значение. 211 пар, 100 % объёма событий, каждая отображена в трит.</a:t>
            </a:r>
          </a:p>
          <a:p>
            <a:pPr algn="l">
              <a:spcAft>
                <a:spcPts val="600"/>
              </a:spcAft>
            </a:pPr>
            <a:r>
              <a:rPr sz="1200" b="0" i="1">
                <a:solidFill>
                  <a:srgbClr val="C2410C"/>
                </a:solidFill>
                <a:latin typeface="PT Sans"/>
              </a:rPr>
              <a:t>Соединение вместо 211 условий: витрины собираются за 11 секунд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14418" y="1783080"/>
            <a:ext cx="3362858" cy="32004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43018" y="2011680"/>
            <a:ext cx="2905658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 i="0">
                <a:solidFill>
                  <a:srgbClr val="0F172A"/>
                </a:solidFill>
                <a:latin typeface="PT Sans"/>
              </a:rPr>
              <a:t>Признаки-утверждения</a:t>
            </a:r>
          </a:p>
          <a:p>
            <a:pPr algn="l">
              <a:spcAft>
                <a:spcPts val="1000"/>
              </a:spcAft>
            </a:pPr>
            <a:r>
              <a:rPr sz="1300" b="0" i="0">
                <a:solidFill>
                  <a:srgbClr val="475569"/>
                </a:solidFill>
                <a:latin typeface="PT Sans"/>
              </a:rPr>
              <a:t>20 признаков, каждый несёт шаблон фразы. Объяснение собирается подстановкой, а не генерируется.</a:t>
            </a:r>
          </a:p>
          <a:p>
            <a:pPr algn="l">
              <a:spcAft>
                <a:spcPts val="600"/>
              </a:spcAft>
            </a:pPr>
            <a:r>
              <a:rPr sz="1200" b="0" i="1">
                <a:solidFill>
                  <a:srgbClr val="C2410C"/>
                </a:solidFill>
                <a:latin typeface="PT Sans"/>
              </a:rPr>
              <a:t>Расхождение между расчётом и текстом технически невозможно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51596" y="1783080"/>
            <a:ext cx="3362858" cy="32004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80196" y="2011680"/>
            <a:ext cx="2905658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 i="0">
                <a:solidFill>
                  <a:srgbClr val="0F172A"/>
                </a:solidFill>
                <a:latin typeface="PT Sans"/>
              </a:rPr>
              <a:t>Личная норма канала</a:t>
            </a:r>
          </a:p>
          <a:p>
            <a:pPr algn="l">
              <a:spcAft>
                <a:spcPts val="1000"/>
              </a:spcAft>
            </a:pPr>
            <a:r>
              <a:rPr sz="1300" b="0" i="0">
                <a:solidFill>
                  <a:srgbClr val="475569"/>
                </a:solidFill>
                <a:latin typeface="PT Sans"/>
              </a:rPr>
              <a:t>Отношения считаются к собственной норме за 90 суток и по месяцам — сезонность встроена.</a:t>
            </a:r>
          </a:p>
          <a:p>
            <a:pPr algn="l">
              <a:spcAft>
                <a:spcPts val="600"/>
              </a:spcAft>
            </a:pPr>
            <a:r>
              <a:rPr sz="1200" b="0" i="1">
                <a:solidFill>
                  <a:srgbClr val="C2410C"/>
                </a:solidFill>
                <a:latin typeface="PT Sans"/>
              </a:rPr>
              <a:t>Относительная улика требует абсолютной опоры: ×12,9 при одном событии — артефакт деления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257800"/>
            <a:ext cx="106372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0F172A"/>
                </a:solidFill>
                <a:latin typeface="PT Sans"/>
              </a:rPr>
              <a:t>Аналитический контур: DuckDB и Parquet — 313 млн событий превращаются в витрины на ноутбуке с 16 ГБ ОЗУ. Оперативный контур: PostgreSQL — вердикты, решения, заявки, аудит.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372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94A3B8"/>
                </a:solidFill>
                <a:latin typeface="PT Sans"/>
              </a:rPr>
              <a:t>РЕЗУЛЬТАТ · ОЦЕНИВАЕТСЯ ОТДЕЛЬНО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22960"/>
            <a:ext cx="106372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0F172A"/>
                </a:solidFill>
                <a:latin typeface="PT Sans"/>
              </a:rPr>
              <a:t>Блок 1. Прогноз отказов оборудования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536192"/>
            <a:ext cx="1097280" cy="3175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83080"/>
            <a:ext cx="106372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0F172A"/>
                </a:solidFill>
                <a:latin typeface="PT Sans"/>
              </a:rPr>
              <a:t>Единственная модель проекта с настоящей разметкой: целевое событие выведено из семантики значений, а не имитировано. 18 056 743 канало-суток, 9 353 отказа, базовая частота 0,0518 %.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2697480"/>
          <a:ext cx="10637214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23025"/>
                <a:gridCol w="6914189"/>
              </a:tblGrid>
              <a:tr h="31089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F172A"/>
                          </a:solidFill>
                          <a:latin typeface="PT Sans"/>
                        </a:rPr>
                        <a:t>Схема валидации</a:t>
                      </a:r>
                    </a:p>
                  </a:txBody>
                  <a:tcPr marL="73152" marR="73152" marT="27432" marB="27432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F172A"/>
                          </a:solidFill>
                          <a:latin typeface="PT Sans"/>
                        </a:rPr>
                        <a:t>Значение</a:t>
                      </a:r>
                    </a:p>
                  </a:txBody>
                  <a:tcPr marL="73152" marR="73152" marT="27432" marB="27432">
                    <a:solidFill>
                      <a:srgbClr val="EEF2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75569"/>
                          </a:solidFill>
                          <a:latin typeface="PT Sans"/>
                        </a:rPr>
                        <a:t>Обучение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75569"/>
                          </a:solidFill>
                          <a:latin typeface="PT Sans"/>
                        </a:rPr>
                        <a:t>2022-01-01 … 2024-12-31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PT Sans"/>
                        </a:rPr>
                        <a:t>Отложенная проверка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PT Sans"/>
                        </a:rPr>
                        <a:t>2025-01-01 … 2026-06-30, без прореживания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75569"/>
                          </a:solidFill>
                          <a:latin typeface="PT Sans"/>
                        </a:rPr>
                        <a:t>Разбиение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75569"/>
                          </a:solidFill>
                          <a:latin typeface="PT Sans"/>
                        </a:rPr>
                        <a:t>строго временное, группировка по «объект — месяц»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75569"/>
                          </a:solidFill>
                          <a:latin typeface="PT Sans"/>
                        </a:rPr>
                        <a:t>Почему не случайное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75569"/>
                          </a:solidFill>
                          <a:latin typeface="PT Sans"/>
                        </a:rPr>
                        <a:t>соседние сутки канала почти идентичны — модель запомнила бы канал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4434840"/>
          <a:ext cx="10637214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9303"/>
                <a:gridCol w="2127443"/>
                <a:gridCol w="5850468"/>
              </a:tblGrid>
              <a:tr h="31089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F172A"/>
                          </a:solidFill>
                          <a:latin typeface="PT Sans"/>
                        </a:rPr>
                        <a:t>Метрика</a:t>
                      </a:r>
                    </a:p>
                  </a:txBody>
                  <a:tcPr marL="73152" marR="73152" marT="27432" marB="27432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F172A"/>
                          </a:solidFill>
                          <a:latin typeface="PT Sans"/>
                        </a:rPr>
                        <a:t>Значение</a:t>
                      </a:r>
                    </a:p>
                  </a:txBody>
                  <a:tcPr marL="73152" marR="73152" marT="27432" marB="27432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F172A"/>
                          </a:solidFill>
                          <a:latin typeface="PT Sans"/>
                        </a:rPr>
                        <a:t>Как читать</a:t>
                      </a:r>
                    </a:p>
                  </a:txBody>
                  <a:tcPr marL="73152" marR="73152" marT="27432" marB="27432">
                    <a:solidFill>
                      <a:srgbClr val="EEF2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75569"/>
                          </a:solidFill>
                          <a:latin typeface="PT Sans"/>
                        </a:rPr>
                        <a:t>ROC-AUC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75569"/>
                          </a:solidFill>
                          <a:latin typeface="PT Sans"/>
                        </a:rPr>
                        <a:t>0,807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75569"/>
                          </a:solidFill>
                          <a:latin typeface="PT Sans"/>
                        </a:rPr>
                        <a:t>при доле позитивов 0,05 % не показателен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75569"/>
                          </a:solidFill>
                          <a:latin typeface="PT Sans"/>
                        </a:rPr>
                        <a:t>PR-AUC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75569"/>
                          </a:solidFill>
                          <a:latin typeface="PT Sans"/>
                        </a:rPr>
                        <a:t>0,0109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75569"/>
                          </a:solidFill>
                          <a:latin typeface="PT Sans"/>
                        </a:rPr>
                        <a:t>главная метрика для редкого события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PT Sans"/>
                        </a:rPr>
                        <a:t>Precision@50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PT Sans"/>
                        </a:rPr>
                        <a:t>0,18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PT Sans"/>
                        </a:rPr>
                        <a:t>в 339 раз плотнее случайного выбора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77240" y="5760719"/>
            <a:ext cx="106372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1">
                <a:solidFill>
                  <a:srgbClr val="94A3B8"/>
                </a:solidFill>
                <a:latin typeface="PT Sans"/>
              </a:rPr>
              <a:t>Эталонного тестового периода организаторы не предусмотрели (ответ 2) — схему валидации мы определяем и защищаем сами.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372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94A3B8"/>
                </a:solidFill>
                <a:latin typeface="PT Sans"/>
              </a:rPr>
              <a:t>ЧЕСТНОСТЬ ВМЕСТО ПОДГОНКИ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22960"/>
            <a:ext cx="106372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0F172A"/>
                </a:solidFill>
                <a:latin typeface="PT Sans"/>
              </a:rPr>
              <a:t>Почему Recall 0,5 недостижим — и это не про модель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536192"/>
            <a:ext cx="1097280" cy="3175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83080"/>
            <a:ext cx="106372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0F172A"/>
                </a:solidFill>
                <a:latin typeface="PT Sans"/>
              </a:rPr>
              <a:t>ТЗ называет Precision 0,70 и Recall 0,50. Организаторы разрешили снизить их с обоснованием. Вот обоснование — измеренное, а не оценённое.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2560320"/>
          <a:ext cx="10637212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03908"/>
                <a:gridCol w="3510280"/>
                <a:gridCol w="1914698"/>
                <a:gridCol w="1808326"/>
              </a:tblGrid>
              <a:tr h="31089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F172A"/>
                          </a:solidFill>
                          <a:latin typeface="PT Sans"/>
                        </a:rPr>
                        <a:t>Целевой Recall</a:t>
                      </a:r>
                    </a:p>
                  </a:txBody>
                  <a:tcPr marL="73152" marR="73152" marT="27432" marB="27432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F172A"/>
                          </a:solidFill>
                          <a:latin typeface="PT Sans"/>
                        </a:rPr>
                        <a:t>Предупреждений за 18 месяцев</a:t>
                      </a:r>
                    </a:p>
                  </a:txBody>
                  <a:tcPr marL="73152" marR="73152" marT="27432" marB="27432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F172A"/>
                          </a:solidFill>
                          <a:latin typeface="PT Sans"/>
                        </a:rPr>
                        <a:t>Precision</a:t>
                      </a:r>
                    </a:p>
                  </a:txBody>
                  <a:tcPr marL="73152" marR="73152" marT="27432" marB="27432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F172A"/>
                          </a:solidFill>
                          <a:latin typeface="PT Sans"/>
                        </a:rPr>
                        <a:t>Проверок в сутки</a:t>
                      </a:r>
                    </a:p>
                  </a:txBody>
                  <a:tcPr marL="73152" marR="73152" marT="27432" marB="27432">
                    <a:solidFill>
                      <a:srgbClr val="EEF2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F172A"/>
                          </a:solidFill>
                          <a:latin typeface="PT Sans"/>
                        </a:rPr>
                        <a:t>0,10 — рабочий режим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F172A"/>
                          </a:solidFill>
                          <a:latin typeface="PT Sans"/>
                        </a:rPr>
                        <a:t>7 880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F172A"/>
                          </a:solidFill>
                          <a:latin typeface="PT Sans"/>
                        </a:rPr>
                        <a:t>3,1 %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F172A"/>
                          </a:solidFill>
                          <a:latin typeface="PT Sans"/>
                        </a:rPr>
                        <a:t>14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475569"/>
                          </a:solidFill>
                          <a:latin typeface="PT Sans"/>
                        </a:rPr>
                        <a:t>0,20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475569"/>
                          </a:solidFill>
                          <a:latin typeface="PT Sans"/>
                        </a:rPr>
                        <a:t>58 712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475569"/>
                          </a:solidFill>
                          <a:latin typeface="PT Sans"/>
                        </a:rPr>
                        <a:t>0,82 %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475569"/>
                          </a:solidFill>
                          <a:latin typeface="PT Sans"/>
                        </a:rPr>
                        <a:t>107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475569"/>
                          </a:solidFill>
                          <a:latin typeface="PT Sans"/>
                        </a:rPr>
                        <a:t>0,30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475569"/>
                          </a:solidFill>
                          <a:latin typeface="PT Sans"/>
                        </a:rPr>
                        <a:t>136 955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475569"/>
                          </a:solidFill>
                          <a:latin typeface="PT Sans"/>
                        </a:rPr>
                        <a:t>0,53 %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475569"/>
                          </a:solidFill>
                          <a:latin typeface="PT Sans"/>
                        </a:rPr>
                        <a:t>250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F172A"/>
                          </a:solidFill>
                          <a:latin typeface="PT Sans"/>
                        </a:rPr>
                        <a:t>0,50 — цель ТЗ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F172A"/>
                          </a:solidFill>
                          <a:latin typeface="PT Sans"/>
                        </a:rPr>
                        <a:t>377 030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F172A"/>
                          </a:solidFill>
                          <a:latin typeface="PT Sans"/>
                        </a:rPr>
                        <a:t>0,32 %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F172A"/>
                          </a:solidFill>
                          <a:latin typeface="PT Sans"/>
                        </a:rPr>
                        <a:t>689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77240" y="4297680"/>
            <a:ext cx="5181447" cy="173736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526280"/>
            <a:ext cx="4724247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C2410C"/>
                </a:solidFill>
                <a:latin typeface="PT Sans"/>
              </a:rPr>
              <a:t>689 проверок в сутки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475569"/>
                </a:solidFill>
                <a:latin typeface="PT Sans"/>
              </a:rPr>
              <a:t>чтобы поймать половину отказов. Из них отказом окажутся две. Это не режим работы, а способ потерять доверие к сервису.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3007" y="4297680"/>
            <a:ext cx="5181447" cy="173736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61607" y="4526280"/>
            <a:ext cx="4724247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15803D"/>
                </a:solidFill>
                <a:latin typeface="PT Sans"/>
              </a:rPr>
              <a:t>14 проверок в сутки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475569"/>
                </a:solidFill>
                <a:latin typeface="PT Sans"/>
              </a:rPr>
              <a:t>закрывают десятую часть всех отказов сети с плотностью в 60 раз выше случайного обхода. Это нагрузка на смену.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217920"/>
            <a:ext cx="106372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F172A"/>
                </a:solidFill>
                <a:latin typeface="PT Sans"/>
              </a:rPr>
              <a:t>Поэтому в интерфейсе нет порога «тревога / не тревога» — есть приоритетная очередь.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372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94A3B8"/>
                </a:solidFill>
                <a:latin typeface="PT Sans"/>
              </a:rPr>
              <a:t>ДВА РЕЖИМА ПРОДУКТА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22960"/>
            <a:ext cx="106372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0F172A"/>
                </a:solidFill>
                <a:latin typeface="PT Sans"/>
              </a:rPr>
              <a:t>Чем шире окно, тем плотнее сигнал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536192"/>
            <a:ext cx="1097280" cy="3175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783080"/>
          <a:ext cx="10637212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4527"/>
                <a:gridCol w="1614577"/>
                <a:gridCol w="1994477"/>
                <a:gridCol w="1804527"/>
                <a:gridCol w="1899502"/>
                <a:gridCol w="1519602"/>
              </a:tblGrid>
              <a:tr h="31089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F172A"/>
                          </a:solidFill>
                          <a:latin typeface="PT Sans"/>
                        </a:rPr>
                        <a:t>Горизонт</a:t>
                      </a:r>
                    </a:p>
                  </a:txBody>
                  <a:tcPr marL="73152" marR="73152" marT="27432" marB="27432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F172A"/>
                          </a:solidFill>
                          <a:latin typeface="PT Sans"/>
                        </a:rPr>
                        <a:t>Позитивов</a:t>
                      </a:r>
                    </a:p>
                  </a:txBody>
                  <a:tcPr marL="73152" marR="73152" marT="27432" marB="27432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F172A"/>
                          </a:solidFill>
                          <a:latin typeface="PT Sans"/>
                        </a:rPr>
                        <a:t>Базовая частота</a:t>
                      </a:r>
                    </a:p>
                  </a:txBody>
                  <a:tcPr marL="73152" marR="73152" marT="27432" marB="27432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F172A"/>
                          </a:solidFill>
                          <a:latin typeface="PT Sans"/>
                        </a:rPr>
                        <a:t>Precision@50</a:t>
                      </a:r>
                    </a:p>
                  </a:txBody>
                  <a:tcPr marL="73152" marR="73152" marT="27432" marB="27432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F172A"/>
                          </a:solidFill>
                          <a:latin typeface="PT Sans"/>
                        </a:rPr>
                        <a:t>Precision@100</a:t>
                      </a:r>
                    </a:p>
                  </a:txBody>
                  <a:tcPr marL="73152" marR="73152" marT="27432" marB="27432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F172A"/>
                          </a:solidFill>
                          <a:latin typeface="PT Sans"/>
                        </a:rPr>
                        <a:t>PR-AUC</a:t>
                      </a:r>
                    </a:p>
                  </a:txBody>
                  <a:tcPr marL="73152" marR="73152" marT="27432" marB="27432">
                    <a:solidFill>
                      <a:srgbClr val="EEF2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75569"/>
                          </a:solidFill>
                          <a:latin typeface="PT Sans"/>
                        </a:rPr>
                        <a:t>24 часа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75569"/>
                          </a:solidFill>
                          <a:latin typeface="PT Sans"/>
                        </a:rPr>
                        <a:t>2 401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75569"/>
                          </a:solidFill>
                          <a:latin typeface="PT Sans"/>
                        </a:rPr>
                        <a:t>0,053 %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75569"/>
                          </a:solidFill>
                          <a:latin typeface="PT Sans"/>
                        </a:rPr>
                        <a:t>0,18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75569"/>
                          </a:solidFill>
                          <a:latin typeface="PT Sans"/>
                        </a:rPr>
                        <a:t>0,14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75569"/>
                          </a:solidFill>
                          <a:latin typeface="PT Sans"/>
                        </a:rPr>
                        <a:t>0,0107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75569"/>
                          </a:solidFill>
                          <a:latin typeface="PT Sans"/>
                        </a:rPr>
                        <a:t>3 суток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75569"/>
                          </a:solidFill>
                          <a:latin typeface="PT Sans"/>
                        </a:rPr>
                        <a:t>6 647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75569"/>
                          </a:solidFill>
                          <a:latin typeface="PT Sans"/>
                        </a:rPr>
                        <a:t>0,147 %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75569"/>
                          </a:solidFill>
                          <a:latin typeface="PT Sans"/>
                        </a:rPr>
                        <a:t>0,14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75569"/>
                          </a:solidFill>
                          <a:latin typeface="PT Sans"/>
                        </a:rPr>
                        <a:t>0,14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75569"/>
                          </a:solidFill>
                          <a:latin typeface="PT Sans"/>
                        </a:rPr>
                        <a:t>0,0095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75569"/>
                          </a:solidFill>
                          <a:latin typeface="PT Sans"/>
                        </a:rPr>
                        <a:t>7 суток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75569"/>
                          </a:solidFill>
                          <a:latin typeface="PT Sans"/>
                        </a:rPr>
                        <a:t>14 645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75569"/>
                          </a:solidFill>
                          <a:latin typeface="PT Sans"/>
                        </a:rPr>
                        <a:t>0,324 %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75569"/>
                          </a:solidFill>
                          <a:latin typeface="PT Sans"/>
                        </a:rPr>
                        <a:t>0,12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75569"/>
                          </a:solidFill>
                          <a:latin typeface="PT Sans"/>
                        </a:rPr>
                        <a:t>0,09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75569"/>
                          </a:solidFill>
                          <a:latin typeface="PT Sans"/>
                        </a:rPr>
                        <a:t>0,0130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PT Sans"/>
                        </a:rPr>
                        <a:t>14 суток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PT Sans"/>
                        </a:rPr>
                        <a:t>27 906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PT Sans"/>
                        </a:rPr>
                        <a:t>0,617 %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PT Sans"/>
                        </a:rPr>
                        <a:t>0,48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PT Sans"/>
                        </a:rPr>
                        <a:t>0,30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PT Sans"/>
                        </a:rPr>
                        <a:t>0,0202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" y="3520440"/>
            <a:ext cx="106372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0F172A"/>
                </a:solidFill>
                <a:latin typeface="PT Sans"/>
              </a:rPr>
              <a:t>Отказ оборудования вызревает неделями: медиана вызревания признаков — 29 суток. Чем шире окно, тем плотнее сигнал.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4434840"/>
            <a:ext cx="5181447" cy="18288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663440"/>
            <a:ext cx="4724247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1" i="0">
                <a:solidFill>
                  <a:srgbClr val="0F172A"/>
                </a:solidFill>
                <a:latin typeface="PT Sans"/>
              </a:rPr>
              <a:t>Аварийный поток · 24 часа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475569"/>
                </a:solidFill>
                <a:latin typeface="PT Sans"/>
              </a:rPr>
              <a:t>Приоритетная очередь на смену. Полезен там, где важна скорость: каскадный отказ питающей линии, ночное проникновение, рост водопритока.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3007" y="4434840"/>
            <a:ext cx="5181447" cy="18288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61607" y="4663440"/>
            <a:ext cx="4724247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1" i="0">
                <a:solidFill>
                  <a:srgbClr val="0F172A"/>
                </a:solidFill>
                <a:latin typeface="PT Sans"/>
              </a:rPr>
              <a:t>Сервисный поток · 14 суток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475569"/>
                </a:solidFill>
                <a:latin typeface="PT Sans"/>
              </a:rPr>
              <a:t>Голова очереди втрое плотнее: 0,48 против 0,18. Заявка с обоснованием, сроком и исполнителем — до того, как оборудование встанет.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355080"/>
            <a:ext cx="106372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1">
                <a:solidFill>
                  <a:srgbClr val="94A3B8"/>
                </a:solidFill>
                <a:latin typeface="PT Sans"/>
              </a:rPr>
              <a:t>Целевых 0,70 не достигает ни один горизонт, и мы говорим это прямо. Деление на аварийный и сервисный поток — то же, что заказчик проводит сам; горизонт вынесен в настройки.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372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94A3B8"/>
                </a:solidFill>
                <a:latin typeface="PT Sans"/>
              </a:rPr>
              <a:t>РЕЗУЛЬТАТ · ОЦЕНИВАЕТСЯ ОТДЕЛЬНО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22960"/>
            <a:ext cx="106372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0F172A"/>
                </a:solidFill>
                <a:latin typeface="PT Sans"/>
              </a:rPr>
              <a:t>Блок 2. Прогноз инцидентов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536192"/>
            <a:ext cx="1097280" cy="3175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83080"/>
            <a:ext cx="106372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0F172A"/>
                </a:solidFill>
                <a:latin typeface="PT Sans"/>
              </a:rPr>
              <a:t>Разметки инцидентов в данных нет — это подтвердили организаторы. Кандидатов на реальное задымление за 7,5 лет — порядка десяти. Классификатор на таком материале выучил бы шум, поэтому здесь детекторы, а не обучение с учителем.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2606040"/>
          <a:ext cx="10637213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4002"/>
                <a:gridCol w="2751003"/>
                <a:gridCol w="3668005"/>
                <a:gridCol w="2384203"/>
              </a:tblGrid>
              <a:tr h="31089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F172A"/>
                          </a:solidFill>
                          <a:latin typeface="PT Sans"/>
                        </a:rPr>
                        <a:t>Сценарий</a:t>
                      </a:r>
                    </a:p>
                  </a:txBody>
                  <a:tcPr marL="73152" marR="73152" marT="27432" marB="27432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F172A"/>
                          </a:solidFill>
                          <a:latin typeface="PT Sans"/>
                        </a:rPr>
                        <a:t>Метод</a:t>
                      </a:r>
                    </a:p>
                  </a:txBody>
                  <a:tcPr marL="73152" marR="73152" marT="27432" marB="27432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F172A"/>
                          </a:solidFill>
                          <a:latin typeface="PT Sans"/>
                        </a:rPr>
                        <a:t>Почему так</a:t>
                      </a:r>
                    </a:p>
                  </a:txBody>
                  <a:tcPr marL="73152" marR="73152" marT="27432" marB="27432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F172A"/>
                          </a:solidFill>
                          <a:latin typeface="PT Sans"/>
                        </a:rPr>
                        <a:t>Масштаб</a:t>
                      </a:r>
                    </a:p>
                  </a:txBody>
                  <a:tcPr marL="73152" marR="73152" marT="27432" marB="27432">
                    <a:solidFill>
                      <a:srgbClr val="EEF2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75569"/>
                          </a:solidFill>
                          <a:latin typeface="PT Sans"/>
                        </a:rPr>
                        <a:t>Подтопление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75569"/>
                          </a:solidFill>
                          <a:latin typeface="PT Sans"/>
                        </a:rPr>
                        <a:t>аномалия частоты пусков насоса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75569"/>
                          </a:solidFill>
                          <a:latin typeface="PT Sans"/>
                        </a:rPr>
                        <a:t>рост водопритока виден раньше датчика затопления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75569"/>
                          </a:solidFill>
                          <a:latin typeface="PT Sans"/>
                        </a:rPr>
                        <a:t>462 255 пусков, 180 насосов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75569"/>
                          </a:solidFill>
                          <a:latin typeface="PT Sans"/>
                        </a:rPr>
                        <a:t>Задымление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75569"/>
                          </a:solidFill>
                          <a:latin typeface="PT Sans"/>
                        </a:rPr>
                        <a:t>многофакторный детектор с отсевом прогонов ТО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75569"/>
                          </a:solidFill>
                          <a:latin typeface="PT Sans"/>
                        </a:rPr>
                        <a:t>прогон сигнализации — не дым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75569"/>
                          </a:solidFill>
                          <a:latin typeface="PT Sans"/>
                        </a:rPr>
                        <a:t>50 564 кандидата, 36 476 — ТО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75569"/>
                          </a:solidFill>
                          <a:latin typeface="PT Sans"/>
                        </a:rPr>
                        <a:t>Проникновение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75569"/>
                          </a:solidFill>
                          <a:latin typeface="PT Sans"/>
                        </a:rPr>
                        <a:t>правила: охрана, ночь, мультисенсорность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75569"/>
                          </a:solidFill>
                          <a:latin typeface="PT Sans"/>
                        </a:rPr>
                        <a:t>3 303 сработки за 12 часов — неисправный шлейф, не человек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75569"/>
                          </a:solidFill>
                          <a:latin typeface="PT Sans"/>
                        </a:rPr>
                        <a:t>10 из 47 охранных каналов залипли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F172A"/>
                          </a:solidFill>
                          <a:latin typeface="PT Sans"/>
                        </a:rPr>
                        <a:t>Отказ датчика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F172A"/>
                          </a:solidFill>
                          <a:latin typeface="PT Sans"/>
                        </a:rPr>
                        <a:t>обучение с учителем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F172A"/>
                          </a:solidFill>
                          <a:latin typeface="PT Sans"/>
                        </a:rPr>
                        <a:t>единственная настоящая разметка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F172A"/>
                          </a:solidFill>
                          <a:latin typeface="PT Sans"/>
                        </a:rPr>
                        <a:t>9 353 отказа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" y="4983480"/>
            <a:ext cx="106372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C2410C"/>
                </a:solidFill>
                <a:latin typeface="PT Sans"/>
              </a:rPr>
              <a:t>Сервис не утверждает, что предсказывает пожар.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475569"/>
                </a:solidFill>
                <a:latin typeface="PT Sans"/>
              </a:rPr>
              <a:t>Он утверждает, что обнаруживает признаки развивающегося события раньше, чем оно станет очевидным, — и честно показывает, когда подтвердить его нечем. В 86,3 % локальных событий задымления теплового датчика в точке просто нет.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372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94A3B8"/>
                </a:solidFill>
                <a:latin typeface="PT Sans"/>
              </a:rPr>
              <a:t>ЕДИНИЦА СОБЫТИЯ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22960"/>
            <a:ext cx="106372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0F172A"/>
                </a:solidFill>
                <a:latin typeface="PT Sans"/>
              </a:rPr>
              <a:t>Один каскад — одно событие, а не 75 отказов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536192"/>
            <a:ext cx="1097280" cy="3175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83080"/>
            <a:ext cx="106372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0F172A"/>
                </a:solidFill>
                <a:latin typeface="PT Sans"/>
              </a:rPr>
              <a:t>Вопрос «отказ шлейфа из 75 каналов — это одно событие или семьдесят пять» организаторы оставили без ответа. Решение принято нами и обосновано физикой: заказчик описал питающую линию 48 В, отказ которой обесточивает десятки точек одновременно.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971800"/>
            <a:ext cx="10637215" cy="155448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200400"/>
            <a:ext cx="999713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 i="0">
                <a:solidFill>
                  <a:srgbClr val="C2410C"/>
                </a:solidFill>
                <a:latin typeface="PT Sans"/>
              </a:rPr>
              <a:t>объект Кси: 39 признаков на 22 точках за 17 секунд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475569"/>
                </a:solidFill>
                <a:latin typeface="PT Sans"/>
              </a:rPr>
              <a:t>При суточной точности метк это 39 независимых отказов и 39 карточек. При секундной — один отказ питающей линии и одна заявка на ремонт.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892040"/>
            <a:ext cx="10637215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C2410C"/>
                </a:solidFill>
                <a:latin typeface="PT Sans"/>
              </a:rPr>
              <a:t>▪  </a:t>
            </a:r>
            <a:r>
              <a:rPr sz="1500" b="1">
                <a:solidFill>
                  <a:srgbClr val="0F172A"/>
                </a:solidFill>
                <a:latin typeface="PT Sans"/>
              </a:rPr>
              <a:t>Окно 120 секунд, не менее 4 точек и 2 пикетов. </a:t>
            </a:r>
            <a:r>
              <a:rPr sz="1500">
                <a:solidFill>
                  <a:srgbClr val="475569"/>
                </a:solidFill>
                <a:latin typeface="PT Sans"/>
              </a:rPr>
              <a:t>Порог выведен из распределения, а не назначен.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C2410C"/>
                </a:solidFill>
                <a:latin typeface="PT Sans"/>
              </a:rPr>
              <a:t>▪  </a:t>
            </a:r>
            <a:r>
              <a:rPr sz="1500" b="1">
                <a:solidFill>
                  <a:srgbClr val="0F172A"/>
                </a:solidFill>
                <a:latin typeface="PT Sans"/>
              </a:rPr>
              <a:t>Каскад поднимает приоритет заявки до аварийного. </a:t>
            </a:r>
            <a:r>
              <a:rPr sz="1500">
                <a:solidFill>
                  <a:srgbClr val="475569"/>
                </a:solidFill>
                <a:latin typeface="PT Sans"/>
              </a:rPr>
              <a:t>Ждать планового обхода при обесточенном луче нельзя.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C2410C"/>
                </a:solidFill>
                <a:latin typeface="PT Sans"/>
              </a:rPr>
              <a:t>▪  </a:t>
            </a:r>
            <a:r>
              <a:rPr sz="1500" b="1">
                <a:solidFill>
                  <a:srgbClr val="0F172A"/>
                </a:solidFill>
                <a:latin typeface="PT Sans"/>
              </a:rPr>
              <a:t>Все 469 метк в наборе вердиктов — посекундные. </a:t>
            </a:r>
            <a:r>
              <a:rPr sz="1500">
                <a:solidFill>
                  <a:srgbClr val="475569"/>
                </a:solidFill>
                <a:latin typeface="PT Sans"/>
              </a:rPr>
              <a:t>Это то, что делает каскады видимыми вообще.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372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94A3B8"/>
                </a:solidFill>
                <a:latin typeface="PT Sans"/>
              </a:rPr>
              <a:t>ПРОДУКТ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22960"/>
            <a:ext cx="106372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0F172A"/>
                </a:solidFill>
                <a:latin typeface="PT Sans"/>
              </a:rPr>
              <a:t>Рабочее место диспетчера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536192"/>
            <a:ext cx="1097280" cy="3175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135727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94A3B8"/>
                </a:solidFill>
                <a:latin typeface="PT Sans"/>
              </a:rPr>
              <a:t>скриншот</a:t>
            </a:r>
          </a:p>
          <a:p>
            <a:pPr algn="ctr">
              <a:spcAft>
                <a:spcPts val="600"/>
              </a:spcAft>
            </a:pPr>
            <a:r>
              <a:rPr sz="1100" b="0" i="0">
                <a:solidFill>
                  <a:srgbClr val="94A3B8"/>
                </a:solidFill>
                <a:latin typeface="PT Sans"/>
              </a:rPr>
              <a:t>очередь на проверку: 162 вердикта, сортировка по риску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78727" y="1783080"/>
            <a:ext cx="5135727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94A3B8"/>
                </a:solidFill>
                <a:latin typeface="PT Sans"/>
              </a:rPr>
              <a:t>скриншот</a:t>
            </a:r>
          </a:p>
          <a:p>
            <a:pPr algn="ctr">
              <a:spcAft>
                <a:spcPts val="600"/>
              </a:spcAft>
            </a:pPr>
            <a:r>
              <a:rPr sz="1100" b="0" i="0">
                <a:solidFill>
                  <a:srgbClr val="94A3B8"/>
                </a:solidFill>
                <a:latin typeface="PT Sans"/>
              </a:rPr>
              <a:t>карточка вердикта с уликами, вкладами и таймлайном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4251960"/>
            <a:ext cx="5135727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94A3B8"/>
                </a:solidFill>
                <a:latin typeface="PT Sans"/>
              </a:rPr>
              <a:t>скриншот</a:t>
            </a:r>
          </a:p>
          <a:p>
            <a:pPr algn="ctr">
              <a:spcAft>
                <a:spcPts val="600"/>
              </a:spcAft>
            </a:pPr>
            <a:r>
              <a:rPr sz="1100" b="0" i="0">
                <a:solidFill>
                  <a:srgbClr val="94A3B8"/>
                </a:solidFill>
                <a:latin typeface="PT Sans"/>
              </a:rPr>
              <a:t>интерактивная карта с выделением проблемных участков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8727" y="4251960"/>
            <a:ext cx="5135727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94A3B8"/>
                </a:solidFill>
                <a:latin typeface="PT Sans"/>
              </a:rPr>
              <a:t>скриншот</a:t>
            </a:r>
          </a:p>
          <a:p>
            <a:pPr algn="ctr">
              <a:spcAft>
                <a:spcPts val="600"/>
              </a:spcAft>
            </a:pPr>
            <a:r>
              <a:rPr sz="1100" b="0" i="0">
                <a:solidFill>
                  <a:srgbClr val="94A3B8"/>
                </a:solidFill>
                <a:latin typeface="PT Sans"/>
              </a:rPr>
              <a:t>линейная схема коллектора по пикетам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372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94A3B8"/>
                </a:solidFill>
                <a:latin typeface="PT Sans"/>
              </a:rPr>
              <a:t>ЗАМКНУТЫЙ ЦИКЛ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22960"/>
            <a:ext cx="106372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0F172A"/>
                </a:solidFill>
                <a:latin typeface="PT Sans"/>
              </a:rPr>
              <a:t>От вердикта к заявке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536192"/>
            <a:ext cx="1097280" cy="3175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1981139" cy="219456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1984248"/>
            <a:ext cx="165195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C2410C"/>
                </a:solidFill>
                <a:latin typeface="PT Sans"/>
              </a:rPr>
              <a:t>1</a:t>
            </a:r>
          </a:p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F172A"/>
                </a:solidFill>
                <a:latin typeface="PT Sans"/>
              </a:rPr>
              <a:t>Вердикт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475569"/>
                </a:solidFill>
                <a:latin typeface="PT Sans"/>
              </a:rPr>
              <a:t>карточка с уликами и метками времени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41259" y="1783080"/>
            <a:ext cx="1981139" cy="219456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05851" y="1984248"/>
            <a:ext cx="165195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C2410C"/>
                </a:solidFill>
                <a:latin typeface="PT Sans"/>
              </a:rPr>
              <a:t>2</a:t>
            </a:r>
          </a:p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F172A"/>
                </a:solidFill>
                <a:latin typeface="PT Sans"/>
              </a:rPr>
              <a:t>Мультикарточка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475569"/>
                </a:solidFill>
                <a:latin typeface="PT Sans"/>
              </a:rPr>
              <a:t>карточки объекта собраны вместе: люди едут на объект, а не на канал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05278" y="1783080"/>
            <a:ext cx="1981139" cy="219456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69870" y="1984248"/>
            <a:ext cx="165195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C2410C"/>
                </a:solidFill>
                <a:latin typeface="PT Sans"/>
              </a:rPr>
              <a:t>3</a:t>
            </a:r>
          </a:p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F172A"/>
                </a:solidFill>
                <a:latin typeface="PT Sans"/>
              </a:rPr>
              <a:t>Квитирование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475569"/>
                </a:solidFill>
                <a:latin typeface="PT Sans"/>
              </a:rPr>
              <a:t>пока человек не отработал, событие не исчезает из журнала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9297" y="1783080"/>
            <a:ext cx="1981139" cy="219456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33889" y="1984248"/>
            <a:ext cx="165195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C2410C"/>
                </a:solidFill>
                <a:latin typeface="PT Sans"/>
              </a:rPr>
              <a:t>4</a:t>
            </a:r>
          </a:p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F172A"/>
                </a:solidFill>
                <a:latin typeface="PT Sans"/>
              </a:rPr>
              <a:t>Решение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475569"/>
                </a:solidFill>
                <a:latin typeface="PT Sans"/>
              </a:rPr>
              <a:t>причина из справочника заказчика, ложные срабатывания отделены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433316" y="1783080"/>
            <a:ext cx="1981139" cy="219456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97908" y="1984248"/>
            <a:ext cx="165195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C2410C"/>
                </a:solidFill>
                <a:latin typeface="PT Sans"/>
              </a:rPr>
              <a:t>5</a:t>
            </a:r>
          </a:p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F172A"/>
                </a:solidFill>
                <a:latin typeface="PT Sans"/>
              </a:rPr>
              <a:t>Заявка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475569"/>
                </a:solidFill>
                <a:latin typeface="PT Sans"/>
              </a:rPr>
              <a:t>обоснование переносится из карточки дословно, срок — из вызревания признаков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343400"/>
            <a:ext cx="10637215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>
                <a:solidFill>
                  <a:srgbClr val="C2410C"/>
                </a:solidFill>
                <a:latin typeface="PT Sans"/>
              </a:rPr>
              <a:t>▪  </a:t>
            </a:r>
            <a:r>
              <a:rPr sz="1400" b="1">
                <a:solidFill>
                  <a:srgbClr val="0F172A"/>
                </a:solidFill>
                <a:latin typeface="PT Sans"/>
              </a:rPr>
              <a:t>Обоснование заявки не пишется руками. </a:t>
            </a:r>
            <a:r>
              <a:rPr sz="1400">
                <a:solidFill>
                  <a:srgbClr val="475569"/>
                </a:solidFill>
                <a:latin typeface="PT Sans"/>
              </a:rPr>
              <a:t>Оно переносится из карточки с теми же числами и метками времени, иначе заявка со временем разойдётся с данными и потеряет доказательную силу.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C2410C"/>
                </a:solidFill>
                <a:latin typeface="PT Sans"/>
              </a:rPr>
              <a:t>▪  </a:t>
            </a:r>
            <a:r>
              <a:rPr sz="1400" b="1">
                <a:solidFill>
                  <a:srgbClr val="0F172A"/>
                </a:solidFill>
                <a:latin typeface="PT Sans"/>
              </a:rPr>
              <a:t>Срок и приоритет выводятся из вызревания. </a:t>
            </a:r>
            <a:r>
              <a:rPr sz="1400">
                <a:solidFill>
                  <a:srgbClr val="475569"/>
                </a:solidFill>
                <a:latin typeface="PT Sans"/>
              </a:rPr>
              <a:t>То, что копилось месяц, не обязано чиниться завтра. Срок сдвигается перед длинными выходными: бригад в эти дни меньше.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C2410C"/>
                </a:solidFill>
                <a:latin typeface="PT Sans"/>
              </a:rPr>
              <a:t>▪  </a:t>
            </a:r>
            <a:r>
              <a:rPr sz="1400" b="1">
                <a:solidFill>
                  <a:srgbClr val="0F172A"/>
                </a:solidFill>
                <a:latin typeface="PT Sans"/>
              </a:rPr>
              <a:t>Пары «вердикт — решение» — это разметка, которой нет ни у нас, ни у заказчика. </a:t>
            </a:r>
            <a:r>
              <a:rPr sz="1400">
                <a:solidFill>
                  <a:srgbClr val="475569"/>
                </a:solidFill>
                <a:latin typeface="PT Sans"/>
              </a:rPr>
              <a:t>Журнал прогнозов накапливает её с первого дня эксплуатации.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372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94A3B8"/>
                </a:solidFill>
                <a:latin typeface="PT Sans"/>
              </a:rPr>
              <a:t>ЧТО СДЕЛАНО И ЧЕГО НЕТ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22960"/>
            <a:ext cx="106372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0F172A"/>
                </a:solidFill>
                <a:latin typeface="PT Sans"/>
              </a:rPr>
              <a:t>Соответствие ТЗ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536192"/>
            <a:ext cx="1097280" cy="3175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783080"/>
          <a:ext cx="10637214" cy="4041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77911"/>
                <a:gridCol w="2659303"/>
              </a:tblGrid>
              <a:tr h="31089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F172A"/>
                          </a:solidFill>
                          <a:latin typeface="PT Sans"/>
                        </a:rPr>
                        <a:t>Требование ТЗ</a:t>
                      </a:r>
                    </a:p>
                  </a:txBody>
                  <a:tcPr marL="73152" marR="73152" marT="27432" marB="27432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F172A"/>
                          </a:solidFill>
                          <a:latin typeface="PT Sans"/>
                        </a:rPr>
                        <a:t>Состояние</a:t>
                      </a:r>
                    </a:p>
                  </a:txBody>
                  <a:tcPr marL="73152" marR="73152" marT="27432" marB="27432">
                    <a:solidFill>
                      <a:srgbClr val="EEF2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75569"/>
                          </a:solidFill>
                          <a:latin typeface="PT Sans"/>
                        </a:rPr>
                        <a:t>Прогноз с вероятностью и горизонтом не менее 24 часов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75569"/>
                          </a:solidFill>
                          <a:latin typeface="PT Sans"/>
                        </a:rPr>
                        <a:t>да, горизонт настраивается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75569"/>
                          </a:solidFill>
                          <a:latin typeface="PT Sans"/>
                        </a:rPr>
                        <a:t>Четыре сценария: отказ, подтопление, задымление, проникновение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75569"/>
                          </a:solidFill>
                          <a:latin typeface="PT Sans"/>
                        </a:rPr>
                        <a:t>да, разными методами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75569"/>
                          </a:solidFill>
                          <a:latin typeface="PT Sans"/>
                        </a:rPr>
                        <a:t>Дашборд, интерактивная карта, линейная схема, журнал прогнозов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75569"/>
                          </a:solidFill>
                          <a:latin typeface="PT Sans"/>
                        </a:rPr>
                        <a:t>да, семь страниц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75569"/>
                          </a:solidFill>
                          <a:latin typeface="PT Sans"/>
                        </a:rPr>
                        <a:t>Квитирование, фиксация решения, справочник причин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75569"/>
                          </a:solidFill>
                          <a:latin typeface="PT Sans"/>
                        </a:rPr>
                        <a:t>да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75569"/>
                          </a:solidFill>
                          <a:latin typeface="PT Sans"/>
                        </a:rPr>
                        <a:t>Черновики заявок на ремонт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75569"/>
                          </a:solidFill>
                          <a:latin typeface="PT Sans"/>
                        </a:rPr>
                        <a:t>да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75569"/>
                          </a:solidFill>
                          <a:latin typeface="PT Sans"/>
                        </a:rPr>
                        <a:t>Рекомендации по ТО, настраиваемые параметры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75569"/>
                          </a:solidFill>
                          <a:latin typeface="PT Sans"/>
                        </a:rPr>
                        <a:t>да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75569"/>
                          </a:solidFill>
                          <a:latin typeface="PT Sans"/>
                        </a:rPr>
                        <a:t>REST API, PostgreSQL, развёртывание одной командой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75569"/>
                          </a:solidFill>
                          <a:latin typeface="PT Sans"/>
                        </a:rPr>
                        <a:t>да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75569"/>
                          </a:solidFill>
                          <a:latin typeface="PT Sans"/>
                        </a:rPr>
                        <a:t>Роли, двухфакторный вход, журнал аудита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75569"/>
                          </a:solidFill>
                          <a:latin typeface="PT Sans"/>
                        </a:rPr>
                        <a:t>да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75569"/>
                          </a:solidFill>
                          <a:latin typeface="PT Sans"/>
                        </a:rPr>
                        <a:t>Отчёты XLSX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75569"/>
                          </a:solidFill>
                          <a:latin typeface="PT Sans"/>
                        </a:rPr>
                        <a:t>да · PDF не реализован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75569"/>
                          </a:solidFill>
                          <a:latin typeface="PT Sans"/>
                        </a:rPr>
                        <a:t>Уведомления в реальном времени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75569"/>
                          </a:solidFill>
                          <a:latin typeface="PT Sans"/>
                        </a:rPr>
                        <a:t>частично: квитирование есть, push нет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75569"/>
                          </a:solidFill>
                          <a:latin typeface="PT Sans"/>
                        </a:rPr>
                        <a:t>Интеграции со СМВУ и журналом ОДС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75569"/>
                          </a:solidFill>
                          <a:latin typeface="PT Sans"/>
                        </a:rPr>
                        <a:t>эмуляция — систем в контуре задачи нет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75569"/>
                          </a:solidFill>
                          <a:latin typeface="PT Sans"/>
                        </a:rPr>
                        <a:t>Реестр оборудования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75569"/>
                          </a:solidFill>
                          <a:latin typeface="PT Sans"/>
                        </a:rPr>
                        <a:t>суррогат из поведения каналов — реестра не существует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" y="5852160"/>
            <a:ext cx="106372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F172A"/>
                </a:solidFill>
                <a:latin typeface="PT Sans"/>
              </a:rPr>
              <a:t>Сплошной проход по разделам 4–19: 108 проверяемых требований. Выполнено 69, семь работают на эмулированных или суррогатных источниках, 18 частично, 11 не реализовано, три — ссылки пакета.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475569"/>
                </a:solidFill>
                <a:latin typeface="PT Sans"/>
              </a:rPr>
              <a:t>У каждого пункта в записке стоит оговорка: на чём основано утверждение или почему требование не выполнено. Все одиннадцать невыполненных — это отсутствие внешнего источника, обвязка периметра или сознательное сокращение при недельном сроке.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372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94A3B8"/>
                </a:solidFill>
                <a:latin typeface="PT Sans"/>
              </a:rPr>
              <a:t>СДАЧА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22960"/>
            <a:ext cx="106372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0F172A"/>
                </a:solidFill>
                <a:latin typeface="PT Sans"/>
              </a:rPr>
              <a:t>Развёртывание и воспроизводимость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536192"/>
            <a:ext cx="1097280" cy="3175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10637215" cy="1097280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011680"/>
            <a:ext cx="99971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 i="0">
                <a:solidFill>
                  <a:srgbClr val="FFFFFF"/>
                </a:solidFill>
                <a:latin typeface="PT Mono"/>
              </a:rPr>
              <a:t>docker compose up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94A3B8"/>
                </a:solidFill>
                <a:latin typeface="PT Sans"/>
              </a:rPr>
              <a:t>http://localhost:8080 · одноразовый код показывается на странице входа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246120"/>
            <a:ext cx="10637215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500">
                <a:solidFill>
                  <a:srgbClr val="C2410C"/>
                </a:solidFill>
                <a:latin typeface="PT Sans"/>
              </a:rPr>
              <a:t>▪  </a:t>
            </a:r>
            <a:r>
              <a:rPr sz="1500" b="1">
                <a:solidFill>
                  <a:srgbClr val="0F172A"/>
                </a:solidFill>
                <a:latin typeface="PT Sans"/>
              </a:rPr>
              <a:t>Ни датасета, ни витрин в образе нет. </a:t>
            </a:r>
            <a:r>
              <a:rPr sz="1500">
                <a:solidFill>
                  <a:srgbClr val="475569"/>
                </a:solidFill>
                <a:latin typeface="PT Sans"/>
              </a:rPr>
              <a:t>Вердикты поставляются файлом инициализации, поэтому стенд поднимается за секунды на любой машине.</a:t>
            </a:r>
          </a:p>
          <a:p>
            <a:pPr>
              <a:spcAft>
                <a:spcPts val="1100"/>
              </a:spcAft>
            </a:pPr>
            <a:r>
              <a:rPr sz="1500">
                <a:solidFill>
                  <a:srgbClr val="C2410C"/>
                </a:solidFill>
                <a:latin typeface="PT Sans"/>
              </a:rPr>
              <a:t>▪  </a:t>
            </a:r>
            <a:r>
              <a:rPr sz="1500" b="1">
                <a:solidFill>
                  <a:srgbClr val="0F172A"/>
                </a:solidFill>
                <a:latin typeface="PT Sans"/>
              </a:rPr>
              <a:t>Полный пересчёт — пять команд. </a:t>
            </a:r>
            <a:r>
              <a:rPr sz="1500">
                <a:solidFill>
                  <a:srgbClr val="475569"/>
                </a:solidFill>
                <a:latin typeface="PT Sans"/>
              </a:rPr>
              <a:t>Витрины из 313 млн событий, обучение, кривая горизонтов, вердикты. Проходит на ноутбуке с 16 ГБ ОЗУ: лимиты памяти заданы в коде.</a:t>
            </a:r>
          </a:p>
          <a:p>
            <a:pPr>
              <a:spcAft>
                <a:spcPts val="1100"/>
              </a:spcAft>
            </a:pPr>
            <a:r>
              <a:rPr sz="1500">
                <a:solidFill>
                  <a:srgbClr val="C2410C"/>
                </a:solidFill>
                <a:latin typeface="PT Sans"/>
              </a:rPr>
              <a:t>▪  </a:t>
            </a:r>
            <a:r>
              <a:rPr sz="1500" b="1">
                <a:solidFill>
                  <a:srgbClr val="0F172A"/>
                </a:solidFill>
                <a:latin typeface="PT Sans"/>
              </a:rPr>
              <a:t>Код открытый, без обфускации. </a:t>
            </a:r>
            <a:r>
              <a:rPr sz="1500">
                <a:solidFill>
                  <a:srgbClr val="475569"/>
                </a:solidFill>
                <a:latin typeface="PT Sans"/>
              </a:rPr>
              <a:t>5 646 строк Python, классов нет сознательно: только функции и модули, читается сверху вниз.</a:t>
            </a:r>
          </a:p>
          <a:p>
            <a:pPr>
              <a:spcAft>
                <a:spcPts val="1100"/>
              </a:spcAft>
            </a:pPr>
            <a:r>
              <a:rPr sz="1500">
                <a:solidFill>
                  <a:srgbClr val="C2410C"/>
                </a:solidFill>
                <a:latin typeface="PT Sans"/>
              </a:rPr>
              <a:t>▪  </a:t>
            </a:r>
            <a:r>
              <a:rPr sz="1500" b="1">
                <a:solidFill>
                  <a:srgbClr val="0F172A"/>
                </a:solidFill>
                <a:latin typeface="PT Sans"/>
              </a:rPr>
              <a:t>Числа презентации собраны скриптом из моделей. </a:t>
            </a:r>
            <a:r>
              <a:rPr sz="1500">
                <a:solidFill>
                  <a:srgbClr val="475569"/>
                </a:solidFill>
                <a:latin typeface="PT Sans"/>
              </a:rPr>
              <a:t>Слайд нельзя случайно оставить со старой метрикой после переобучения.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005840"/>
            <a:ext cx="106372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94A3B8"/>
                </a:solidFill>
                <a:latin typeface="PT Sans"/>
              </a:rPr>
              <a:t>ЧТО ОТЛИЧАЕТ РЕШЕНИЕ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20240"/>
            <a:ext cx="106372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PT Sans"/>
              </a:rPr>
              <a:t>Вердикт, а не число.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CBD5E1"/>
                </a:solidFill>
                <a:latin typeface="PT Sans"/>
              </a:rPr>
              <a:t>Каждая улика — факт из данных с меткой времени и точным вкладом в решение. Объяснение собирается подстановкой, а не пишется.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154680"/>
            <a:ext cx="106372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PT Sans"/>
              </a:rPr>
              <a:t>Троичная логика.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CBD5E1"/>
                </a:solidFill>
                <a:latin typeface="PT Sans"/>
              </a:rPr>
              <a:t>«Не знаю» сохраняется и проговаривается. Сервис, который в слепой зоне скажет «риск низкий», обманет диспетчера.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389120"/>
            <a:ext cx="106372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PT Sans"/>
              </a:rPr>
              <a:t>Измеренная честность.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CBD5E1"/>
                </a:solidFill>
                <a:latin typeface="PT Sans"/>
              </a:rPr>
              <a:t>Recall 0,5 стоит 689 проверок в сутки — мы это посчитали и показали, вместо того чтобы подогнать метрику под ТЗ.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760720"/>
            <a:ext cx="106372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94A3B8"/>
                </a:solidFill>
                <a:latin typeface="PT Sans"/>
              </a:rPr>
              <a:t>Команда «Дискреция творца» · задача №8 «Город»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