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37744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94A3B8"/>
                </a:solidFill>
                <a:latin typeface="PT Sans"/>
              </a:rPr>
              <a:t>СЕРВИС ПРОГНОЗИРОВАНИЯ ИНЦИДЕНТОВ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PT Sans"/>
              </a:rPr>
              <a:t>Прогноз, которым можно пользоваться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34640"/>
            <a:ext cx="1063721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75569"/>
                </a:solidFill>
                <a:latin typeface="PT Sans"/>
              </a:rPr>
              <a:t>Задача №8 «Город» · Лидеры цифровых трансформаций 2026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94A3B8"/>
                </a:solidFill>
                <a:latin typeface="PT Sans"/>
              </a:rPr>
              <a:t>Департамент ЖКХ Москвы · АО «Москоллектор»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PT Sans"/>
              </a:rPr>
              <a:t>Команда «Дискреция творца»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21208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C2410C"/>
                </a:solidFill>
                <a:latin typeface="PT Sans"/>
              </a:rPr>
              <a:t>Сервис не выдаёт число. Он выдаёт вердикт с обоснованием на языке диспетчера.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Прогноз без обоснования нельзя использовать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F172A"/>
                </a:solidFill>
                <a:latin typeface="PT Sans"/>
              </a:rPr>
              <a:t>Диспетчер получил «вероятность отказа 87 %». Он не может ни проверить утверждение, ни выбрать, кого направить, ни объяснить решение руководству.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PT Sans"/>
              </a:rPr>
              <a:t>Он получил не информацию, а требование доверия.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154680"/>
            <a:ext cx="3393338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293613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PT Sans"/>
              </a:rPr>
              <a:t>11 485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PT Sans"/>
              </a:rPr>
              <a:t>каналов в шести системах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за каждым — живой объект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3154680"/>
            <a:ext cx="3393338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3383280"/>
            <a:ext cx="293613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PT Sans"/>
              </a:rPr>
              <a:t>313,5 млн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PT Sans"/>
              </a:rPr>
              <a:t>событий за 7,5 лет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просмотреть невозможно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1116" y="3154680"/>
            <a:ext cx="3393338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9716" y="3383280"/>
            <a:ext cx="293613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PT Sans"/>
              </a:rPr>
              <a:t>0,05 %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PT Sans"/>
              </a:rPr>
              <a:t>базовая частота отказа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искать наугад бесполезно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6636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F172A"/>
                </a:solidFill>
                <a:latin typeface="PT Sans"/>
              </a:rPr>
              <a:t>Поэтому центральная часть решения — не классификатор, а слой объяснения.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ИДЕЯ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Карточка вердикта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6595073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01168" rIns="274320"/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Прогноз отказа шлейфа пожарной сигнализации
объект Кси, ПК213 — 87 % в ближайшие 24 часа</a:t>
            </a:r>
          </a:p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PT Sans"/>
              </a:rPr>
              <a:t>ПОЧЕМУ ТАК РЕШЕНО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— 74 из 75 дымовых датчиков отрезка молчат более 8 часов — вклад +38 %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— канал ДД ПК772 за 7 суток дал 240 переходов «Неисправен» при норме 3 — +22 %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— отрезок непрерывен по пикетам: 57 точек из 59, общий кабель — +15 %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5803D"/>
                </a:solidFill>
                <a:latin typeface="PT Sans"/>
              </a:rPr>
              <a:t>ЭТО НЕ ПОЖАР: сработок дыма за сутки — 0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C2410C"/>
                </a:solidFill>
                <a:latin typeface="PT Sans"/>
              </a:rPr>
              <a:t>ЧЕГО МЫ НЕ ВИДИМ: тепловых датчиков на объекте нет, подтвердить температурой нечем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PT Sans"/>
              </a:rPr>
              <a:t>Что делать: проверить шлейф и питание шкафа ОПС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Прецедент: 09.12.2025, та же точка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1429" y="1783080"/>
            <a:ext cx="372302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0F172A"/>
                </a:solidFill>
                <a:latin typeface="PT Sans"/>
              </a:rPr>
              <a:t>Четыре обязательные части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Что произошло.</a:t>
            </a:r>
            <a:r>
              <a:rPr sz="1400">
                <a:solidFill>
                  <a:srgbClr val="475569"/>
                </a:solidFill>
                <a:latin typeface="PT Sans"/>
              </a:rPr>
              <a:t> Описание, а не код ошибки.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Почему так решено.</a:t>
            </a:r>
            <a:r>
              <a:rPr sz="1400">
                <a:solidFill>
                  <a:srgbClr val="475569"/>
                </a:solidFill>
                <a:latin typeface="PT Sans"/>
              </a:rPr>
              <a:t> Улики с числами, вкладами и метками времени до секунды.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Это НЕ.</a:t>
            </a:r>
            <a:r>
              <a:rPr sz="1400">
                <a:solidFill>
                  <a:srgbClr val="475569"/>
                </a:solidFill>
                <a:latin typeface="PT Sans"/>
              </a:rPr>
              <a:t> Версии, которые исключены данными.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Чего мы не видим.</a:t>
            </a:r>
            <a:r>
              <a:rPr sz="1400">
                <a:solidFill>
                  <a:srgbClr val="475569"/>
                </a:solidFill>
                <a:latin typeface="PT Sans"/>
              </a:rPr>
              <a:t> Слепые зоны, из-за которых вывод нельзя подтвердить.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94A3B8"/>
                </a:solidFill>
                <a:latin typeface="PT Sans"/>
              </a:rPr>
              <a:t>Вклад каждой улики считается точно: сумма вкладов сходится со скором модели с точностью 4,44·10⁻¹⁶.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ЧТО МЫ СДЕЛАЛИ ИНАЧЕ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Троичная логика: «не знаю» — это не «нет»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Состояние канала имеет три значения: +1 отклонение, 0 неизвестно, −1 норма. Правило заказчика «одиночная сработка не событие» записывается одной операцией.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97480"/>
          <a:ext cx="1063721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6382329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Операция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Результат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Смысл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min(+1, −1) = −1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норма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сосед спокоен — одиночную тревогу не засчитываем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min(+1, +1) = +1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отклонение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датчики подтверждают друг друга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min(+1, 0) = 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неизвестно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соседа нет — «не знаю», а не «нет»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11480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PT Sans"/>
              </a:rPr>
              <a:t>Двоичная система обязана округлить «нечем подтвердить» до «всё в порядке». Вот сколько это стоит: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4754880"/>
          <a:ext cx="1063721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772"/>
                <a:gridCol w="2127443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Где возникает незнание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Величина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Локальные события задымления без термоконтроля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86,3 %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Логические домены из одного канала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48,5 %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Объекты без теплового датчика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13 из 16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Точки без собственного датчика температуры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3 358 из 3 774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Каналы из журнала без паспорта в справочнике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1 142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Что в данных не так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313 546 016 событий · 2019–2026 · 11 485 каналов · 16 объектов · 19 типов датчиков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106372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Журнал событийный, а не телеметрический. </a:t>
            </a:r>
            <a:r>
              <a:rPr sz="1400">
                <a:solidFill>
                  <a:srgbClr val="475569"/>
                </a:solidFill>
                <a:latin typeface="PT Sans"/>
              </a:rPr>
              <a:t>Заполнено 13,6 % возможных канало-суток. Отсутствие записи не означает норму.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1 142 канала без паспорта. </a:t>
            </a:r>
            <a:r>
              <a:rPr sz="1400">
                <a:solidFill>
                  <a:srgbClr val="475569"/>
                </a:solidFill>
                <a:latin typeface="PT Sans"/>
              </a:rPr>
              <a:t>9,44 млн событий от каналов, которых нет в справочнике. Ответ 19 считает вопрос закрытым — проверка 27.09 показывает, что нет.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42 % всех тревог — один период 2021 года. </a:t>
            </a:r>
            <a:r>
              <a:rPr sz="1400">
                <a:solidFill>
                  <a:srgbClr val="475569"/>
                </a:solidFill>
                <a:latin typeface="PT Sans"/>
              </a:rPr>
              <a:t>Внедрение новой версии системы мониторинга. Подтверждено заказчиком, период исключён.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86 % отказных суток — работа бригады, а не отказ. </a:t>
            </a:r>
            <a:r>
              <a:rPr sz="1400">
                <a:solidFill>
                  <a:srgbClr val="475569"/>
                </a:solidFill>
                <a:latin typeface="PT Sans"/>
              </a:rPr>
              <a:t>После маскирования массовых сработок доля выходных среди позитивов выросла с 5,7 % до 24 %: таргет перестал быть графиком обходов.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1 036 каналов-тёзок. </a:t>
            </a:r>
            <a:r>
              <a:rPr sz="1400">
                <a:solidFill>
                  <a:srgbClr val="475569"/>
                </a:solidFill>
                <a:latin typeface="PT Sans"/>
              </a:rPr>
              <a:t>Дубли одного физического датчика: синхронность ≥ 95 % у 386 групп из 412. В обучении остаётся один.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КАК ЭТО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Метод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285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90565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PT Sans"/>
              </a:rPr>
              <a:t>Семантический контракт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Смысл задаёт пара «тип датчика + значение», а не значение. 211 пар, 100 % объёма событий, каждая отображена в трит.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C2410C"/>
                </a:solidFill>
                <a:latin typeface="PT Sans"/>
              </a:rPr>
              <a:t>Соединение вместо 211 условий: витрины собираются за 11 секунд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4418" y="1783080"/>
            <a:ext cx="336285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43018" y="2011680"/>
            <a:ext cx="290565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PT Sans"/>
              </a:rPr>
              <a:t>Признаки-утверждения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20 признаков, каждый несёт шаблон фразы. Объяснение собирается подстановкой, а не генерируется.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C2410C"/>
                </a:solidFill>
                <a:latin typeface="PT Sans"/>
              </a:rPr>
              <a:t>Расхождение между расчётом и текстом технически невозможно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51596" y="1783080"/>
            <a:ext cx="336285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0196" y="2011680"/>
            <a:ext cx="290565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PT Sans"/>
              </a:rPr>
              <a:t>Личная норма канала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Отношения считаются к собственной норме за 90 суток и по месяцам — сезонность встроена.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C2410C"/>
                </a:solidFill>
                <a:latin typeface="PT Sans"/>
              </a:rPr>
              <a:t>Относительная улика требует абсолютной опоры: ×12,9 при одном событии — артефакт деления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25780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0F172A"/>
                </a:solidFill>
                <a:latin typeface="PT Sans"/>
              </a:rPr>
              <a:t>Аналитический контур: DuckDB и Parquet — 313 млн событий превращаются в витрины на ноутбуке с 16 ГБ ОЗУ. Оперативный контур: PostgreSQL — вердикты, решения, заявки, аудит.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РЕЗУЛЬТАТ · ОЦЕНИВАЕТСЯ ОТДЕЛЬНО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Блок 1. Прогноз отказов оборудования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Единственная модель проекта с настоящей разметкой: целевое событие выведено из семантики значений, а не имитировано. 18 056 743 канало-суток, 9 353 отказа, базовая частота 0,0518 %.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97480"/>
          <a:ext cx="10637214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3025"/>
                <a:gridCol w="6914189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Схема валидации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Значение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Обучение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2022-01-01 … 2024-12-31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Отложенная проверка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2025-01-01 … 2026-06-30, без прореживания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Разбиение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строго временное, группировка по «объект — месяц»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Почему не случайное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соседние сутки канала почти идентичны — модель запомнила бы канал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4434840"/>
          <a:ext cx="10637214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127443"/>
                <a:gridCol w="5850468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Метрика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Значение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Как читать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ROC-AUC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0,807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при доле позитивов 0,05 % не показателен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PR-AUC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0,0109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главная метрика для редкого события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Precision@100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0,16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в 301 раз плотнее случайного выбора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760719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94A3B8"/>
                </a:solidFill>
                <a:latin typeface="PT Sans"/>
              </a:rPr>
              <a:t>Эталонного тестового периода организаторы не предусмотрели (ответ 2) — схему валидации мы определяем и защищаем сами.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ЧЕСТНОСТЬ ВМЕСТО ПОДГОНКИ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Почему Recall 0,5 недостижим — и это не про модель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ТЗ называет Precision 0,70 и Recall 0,50. Организаторы разрешили снизить их с обоснованием. Вот обоснование — измеренное, а не оценённое.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560320"/>
          <a:ext cx="1063721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3908"/>
                <a:gridCol w="3510280"/>
                <a:gridCol w="1914698"/>
                <a:gridCol w="1808326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Целевой Recall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Предупреждений за 18 месяцев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Precision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Проверок в сутки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0,10 — рабочий режим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7 880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3,1 %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14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0,20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65 860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0,73 %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120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0,30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136 955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0,53 %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250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0,50 — цель ТЗ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390 105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0,31 %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713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4297680"/>
            <a:ext cx="5181447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26280"/>
            <a:ext cx="472424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2410C"/>
                </a:solidFill>
                <a:latin typeface="PT Sans"/>
              </a:rPr>
              <a:t>713 проверок в сутки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чтобы поймать половину отказов. Из них отказом окажутся две. Это не режим работы, а способ потерять доверие к сервису.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4297680"/>
            <a:ext cx="5181447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4526280"/>
            <a:ext cx="472424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5803D"/>
                </a:solidFill>
                <a:latin typeface="PT Sans"/>
              </a:rPr>
              <a:t>14 проверок в сутки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закрывают десятую часть всех отказов сети с плотностью в 58 раз выше случайного обхода. Это нагрузка на смену.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21792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Поэтому в интерфейсе нет порога «тревога / не тревога» — есть приоритетная очередь.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ДВА РЕЖИМА ПРОДУКТА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Целевая точность достигается — на другом горизонте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213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4039"/>
                <a:gridCol w="1934039"/>
                <a:gridCol w="2320846"/>
                <a:gridCol w="1934039"/>
                <a:gridCol w="251425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Горизонт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Позитивов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Базовая частота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Precision@50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Цель 0,70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24 часа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2 401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0,053 %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нет, потолок 0,18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3 суток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6 647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0,147 %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0,08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7 суток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14 645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0,324 %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0,12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14 суток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27 906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0,617 %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0,52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да, 0,73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52044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F172A"/>
                </a:solidFill>
                <a:latin typeface="PT Sans"/>
              </a:rPr>
              <a:t>Отказ оборудования вызревает неделями: медиана вызревания признаков — 33 суток. Чем шире окно, тем плотнее сигнал.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434840"/>
            <a:ext cx="51814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47242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PT Sans"/>
              </a:rPr>
              <a:t>Аварийный поток · 24 часа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Приоритетная очередь на смену. Полезен там, где важна скорость: каскадный отказ питающей линии, ночное проникновение, рост водопритока.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4434840"/>
            <a:ext cx="51814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4663440"/>
            <a:ext cx="47242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PT Sans"/>
              </a:rPr>
              <a:t>Сервисный поток · 14 суток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Планирование ремонтов с точностью 0,73. Заявка с обоснованием, сроком и исполнителем — до того, как оборудование встанет.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0080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94A3B8"/>
                </a:solidFill>
                <a:latin typeface="PT Sans"/>
              </a:rPr>
              <a:t>Это совпадает с тем, как заказчик сам делит работу: аварийный поток и сервисный поток. Горизонт — настройка, а не константа в коде.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РЕЗУЛЬТАТ · ОЦЕНИВАЕТСЯ ОТДЕЛЬНО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Блок 2. Прогноз инцидентов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0F172A"/>
                </a:solidFill>
                <a:latin typeface="PT Sans"/>
              </a:rPr>
              <a:t>Разметки инцидентов в данных нет — это подтвердили организаторы. Кандидатов на реальное задымление за 7,5 лет — порядка десяти. Классификатор на таком материале выучил бы шум, поэтому здесь детекторы, а не обучение с учителем.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06040"/>
          <a:ext cx="10637213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002"/>
                <a:gridCol w="2751003"/>
                <a:gridCol w="3668005"/>
                <a:gridCol w="2384203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Сценарий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Метод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Почему так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Масштаб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Подтопление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аномалия частоты пусков насоса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рост водопритока виден раньше датчика затопления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462 255 пусков, 180 насосов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Задымление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многофакторный детектор с отсевом прогонов ТО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прогон сигнализации — не дым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50 564 кандидата, 36 476 — ТО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Проникновение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правила: охрана, ночь, мультисенсорность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3 303 сработки за 12 часов — неисправный шлейф, не человек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10 из 47 охранных каналов залипли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Отказ датчика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обучение с учителем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единственная настоящая разметка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9 353 отказа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98348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2410C"/>
                </a:solidFill>
                <a:latin typeface="PT Sans"/>
              </a:rPr>
              <a:t>Сервис не утверждает, что предсказывает пожар.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75569"/>
                </a:solidFill>
                <a:latin typeface="PT Sans"/>
              </a:rPr>
              <a:t>Он утверждает, что обнаруживает признаки развивающегося события раньше, чем оно станет очевидным, — и честно показывает, когда подтвердить его нечем. В 86,3 % локальных событий задымления теплового датчика в точке просто нет.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ЕДИНИЦА СОБЫТИЯ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Один каскад — одно событие, а не 75 отказов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Вопрос «отказ шлейфа из 75 каналов — это одно событие или семьдесят пять» организаторы оставили без ответа. Решение принято нами и обосновано физикой: заказчик описал питающую линию 48 В, отказ которой обесточивает десятки точек одновременно.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971800"/>
            <a:ext cx="10637215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C2410C"/>
                </a:solidFill>
                <a:latin typeface="PT Sans"/>
              </a:rPr>
              <a:t>объект Кси: 39 признаков на 22 точках за 17 секунд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75569"/>
                </a:solidFill>
                <a:latin typeface="PT Sans"/>
              </a:rPr>
              <a:t>При суточной точности метк это 39 независимых отказов и 39 карточек. При секундной — один отказ питающей линии и одна заявка на ремонт.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3721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Окно 120 секунд, не менее 4 точек и 2 пикетов. </a:t>
            </a:r>
            <a:r>
              <a:rPr sz="1500">
                <a:solidFill>
                  <a:srgbClr val="475569"/>
                </a:solidFill>
                <a:latin typeface="PT Sans"/>
              </a:rPr>
              <a:t>Порог выведен из распределения, а не назначен.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Каскад поднимает приоритет заявки до аварийного. </a:t>
            </a:r>
            <a:r>
              <a:rPr sz="1500">
                <a:solidFill>
                  <a:srgbClr val="475569"/>
                </a:solidFill>
                <a:latin typeface="PT Sans"/>
              </a:rPr>
              <a:t>Ждать планового обхода при обесточенном луче нельзя.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Все 469 метк в наборе вердиктов — посекундные. </a:t>
            </a:r>
            <a:r>
              <a:rPr sz="1500">
                <a:solidFill>
                  <a:srgbClr val="475569"/>
                </a:solidFill>
                <a:latin typeface="PT Sans"/>
              </a:rPr>
              <a:t>Это то, что делает каскады видимыми вообще.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ПРОДУКТ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Рабочее место диспетчера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очередь на проверку: 162 вердикта, сортировка по риску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178308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карточка вердикта с уликами, вкладами и таймлайном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25196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интерактивная карта с выделением проблемных участков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425196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линейная схема коллектора по пикетам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ЗАМКНУТЫЙ ЦИКЛ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От вердикта к заявке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1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Вердикт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карточка с уликами и метками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259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5851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2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Мультикарточка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карточки объекта собраны вместе: люди едут на объект, а не на канал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05278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9870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3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Квитирование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пока человек не отработал, событие не исчезает из журнала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297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33889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4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Решение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причина из справочника заказчика, ложные срабатывания отделены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3316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97908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5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Заявка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обоснование переносится из карточки дословно, срок — из вызревания признаков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3721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Обоснование заявки не пишется руками. </a:t>
            </a:r>
            <a:r>
              <a:rPr sz="1400">
                <a:solidFill>
                  <a:srgbClr val="475569"/>
                </a:solidFill>
                <a:latin typeface="PT Sans"/>
              </a:rPr>
              <a:t>Оно переносится из карточки с теми же числами и метками времени, иначе заявка со временем разойдётся с данными и потеряет доказательную силу.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Срок и приоритет выводятся из вызревания. </a:t>
            </a:r>
            <a:r>
              <a:rPr sz="1400">
                <a:solidFill>
                  <a:srgbClr val="475569"/>
                </a:solidFill>
                <a:latin typeface="PT Sans"/>
              </a:rPr>
              <a:t>То, что копилось месяц, не обязано чиниться завтра. Срок сдвигается перед длинными выходными: бригад в эти дни меньше.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Пары «вердикт — решение» — это разметка, которой нет ни у нас, ни у заказчика. </a:t>
            </a:r>
            <a:r>
              <a:rPr sz="1400">
                <a:solidFill>
                  <a:srgbClr val="475569"/>
                </a:solidFill>
                <a:latin typeface="PT Sans"/>
              </a:rPr>
              <a:t>Журнал прогнозов накапливает её с первого дня эксплуатации.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ЧТО СДЕЛАНО И ЧЕГО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Соответствие ТЗ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214" cy="4041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7911"/>
                <a:gridCol w="2659303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Требование ТЗ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Состояние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Прогноз с вероятностью и горизонтом не менее 24 часов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да, горизонт настраивается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Четыре сценария: отказ, подтопление, задымление, проникновение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да, разными методами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Дашборд, интерактивная карта, линейная схема, журнал прогнозов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да, семь страниц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Квитирование, фиксация решения, справочник причин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Черновики заявок на ремонт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Рекомендации по ТО, настраиваемые параметры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REST API, PostgreSQL, развёртывание одной командой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Роли, двухфакторный вход, журнал аудита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Отчёты XLSX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 · PDF не реализован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Уведомления в реальном времени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частично: квитирование есть, push 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Интеграции со СМВУ и журналом ОДС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эмуляция — систем в контуре задачи 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Реестр оборудования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суррогат из поведения каналов — реестра не существует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85216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F172A"/>
                </a:solidFill>
                <a:latin typeface="PT Sans"/>
              </a:rPr>
              <a:t>Сплошной проход по разделам 4–19: 108 проверяемых требований. Выполнено 76, частично 18, не реализовано 11, три — ссылки пакета сдачи.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У каждого пункта в записке стоит оговорка: на чём основано утверждение или почему требование не выполнено. Все одиннадцать невыполненных — это отсутствие внешнего источника, обвязка периметра или сознательное сокращение при недельном сроке.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СДАЧА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Развёртывание и воспроизводимость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109728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971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PT Mono"/>
              </a:rPr>
              <a:t>docker compose up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4A3B8"/>
                </a:solidFill>
                <a:latin typeface="PT Sans"/>
              </a:rPr>
              <a:t>http://localhost:8080 · одноразовый код показывается на странице входа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46120"/>
            <a:ext cx="1063721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Ни датасета, ни витрин в образе нет. </a:t>
            </a:r>
            <a:r>
              <a:rPr sz="1500">
                <a:solidFill>
                  <a:srgbClr val="475569"/>
                </a:solidFill>
                <a:latin typeface="PT Sans"/>
              </a:rPr>
              <a:t>Вердикты поставляются файлом инициализации, поэтому стенд поднимается за секунды на любой машине.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Полный пересчёт — пять команд. </a:t>
            </a:r>
            <a:r>
              <a:rPr sz="1500">
                <a:solidFill>
                  <a:srgbClr val="475569"/>
                </a:solidFill>
                <a:latin typeface="PT Sans"/>
              </a:rPr>
              <a:t>Витрины из 313 млн событий, обучение, кривая горизонтов, вердикты. Проходит на ноутбуке с 16 ГБ ОЗУ: лимиты памяти заданы в коде.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Код открытый, без обфускации. </a:t>
            </a:r>
            <a:r>
              <a:rPr sz="1500">
                <a:solidFill>
                  <a:srgbClr val="475569"/>
                </a:solidFill>
                <a:latin typeface="PT Sans"/>
              </a:rPr>
              <a:t>5 646 строк Python, классов нет сознательно: только функции и модули, читается сверху вниз.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Числа презентации собраны скриптом из моделей. </a:t>
            </a:r>
            <a:r>
              <a:rPr sz="1500">
                <a:solidFill>
                  <a:srgbClr val="475569"/>
                </a:solidFill>
                <a:latin typeface="PT Sans"/>
              </a:rPr>
              <a:t>Слайд нельзя случайно оставить со старой метрикой после переобучения.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94A3B8"/>
                </a:solidFill>
                <a:latin typeface="PT Sans"/>
              </a:rPr>
              <a:t>ЧТО ОТЛИЧАЕТ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PT Sans"/>
              </a:rPr>
              <a:t>Вердикт, а не число.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BD5E1"/>
                </a:solidFill>
                <a:latin typeface="PT Sans"/>
              </a:rPr>
              <a:t>Каждая улика — факт из данных с меткой времени и точным вкладом в решение. Объяснение собирается подстановкой, а не пишется.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5468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PT Sans"/>
              </a:rPr>
              <a:t>Троичная логика.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BD5E1"/>
                </a:solidFill>
                <a:latin typeface="PT Sans"/>
              </a:rPr>
              <a:t>«Не знаю» сохраняется и проговаривается. Сервис, который в слепой зоне скажет «риск низкий», обманет диспетчера.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PT Sans"/>
              </a:rPr>
              <a:t>Измеренная честность.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BD5E1"/>
                </a:solidFill>
                <a:latin typeface="PT Sans"/>
              </a:rPr>
              <a:t>Recall 0,5 стоит 713 проверок в сутки — мы это посчитали и показали, вместо того чтобы подогнать метрику под ТЗ.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PT Sans"/>
              </a:rPr>
              <a:t>Команда «Дискреция творца» · задача №8 «Город»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